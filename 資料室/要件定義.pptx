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262" r:id="rId3"/>
    <p:sldId id="265" r:id="rId4"/>
    <p:sldId id="268" r:id="rId5"/>
    <p:sldId id="267" r:id="rId6"/>
    <p:sldId id="266" r:id="rId7"/>
    <p:sldId id="264" r:id="rId8"/>
  </p:sldIdLst>
  <p:sldSz cx="12192000" cy="6858000"/>
  <p:notesSz cx="6735763"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5" autoAdjust="0"/>
    <p:restoredTop sz="93501" autoAdjust="0"/>
  </p:normalViewPr>
  <p:slideViewPr>
    <p:cSldViewPr snapToGrid="0">
      <p:cViewPr>
        <p:scale>
          <a:sx n="100" d="100"/>
          <a:sy n="100" d="100"/>
        </p:scale>
        <p:origin x="78" y="-282"/>
      </p:cViewPr>
      <p:guideLst>
        <p:guide orient="horz" pos="2183"/>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49" d="100"/>
          <a:sy n="49" d="100"/>
        </p:scale>
        <p:origin x="1680"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5188"/>
          </a:xfrm>
          <a:prstGeom prst="rect">
            <a:avLst/>
          </a:prstGeom>
        </p:spPr>
        <p:txBody>
          <a:bodyPr vert="horz" lIns="91440" tIns="45720" rIns="91440" bIns="45720" rtlCol="0"/>
          <a:lstStyle>
            <a:lvl1pPr algn="r">
              <a:defRPr sz="1200"/>
            </a:lvl1pPr>
          </a:lstStyle>
          <a:p>
            <a:fld id="{2216F6EE-A58E-4CB1-82B6-89DA77832DCA}" type="datetimeFigureOut">
              <a:rPr kumimoji="1" lang="ja-JP" altLang="en-US" smtClean="0"/>
              <a:t>2025/6/17</a:t>
            </a:fld>
            <a:endParaRPr kumimoji="1" lang="ja-JP" altLang="en-US"/>
          </a:p>
        </p:txBody>
      </p:sp>
      <p:sp>
        <p:nvSpPr>
          <p:cNvPr id="4" name="フッター プレースホルダー 3"/>
          <p:cNvSpPr>
            <a:spLocks noGrp="1"/>
          </p:cNvSpPr>
          <p:nvPr>
            <p:ph type="ftr" sz="quarter" idx="2"/>
          </p:nvPr>
        </p:nvSpPr>
        <p:spPr>
          <a:xfrm>
            <a:off x="0" y="9374301"/>
            <a:ext cx="2918831"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4301"/>
            <a:ext cx="2918831" cy="495187"/>
          </a:xfrm>
          <a:prstGeom prst="rect">
            <a:avLst/>
          </a:prstGeom>
        </p:spPr>
        <p:txBody>
          <a:bodyPr vert="horz" lIns="91440" tIns="45720" rIns="91440" bIns="45720" rtlCol="0" anchor="b"/>
          <a:lstStyle>
            <a:lvl1pPr algn="r">
              <a:defRPr sz="1200"/>
            </a:lvl1pPr>
          </a:lstStyle>
          <a:p>
            <a:fld id="{24C6C555-1A87-42DB-BD2E-92A3DBC997C7}" type="slidenum">
              <a:rPr kumimoji="1" lang="ja-JP" altLang="en-US" smtClean="0"/>
              <a:t>‹#›</a:t>
            </a:fld>
            <a:endParaRPr kumimoji="1" lang="ja-JP" altLang="en-US"/>
          </a:p>
        </p:txBody>
      </p:sp>
    </p:spTree>
    <p:extLst>
      <p:ext uri="{BB962C8B-B14F-4D97-AF65-F5344CB8AC3E}">
        <p14:creationId xmlns:p14="http://schemas.microsoft.com/office/powerpoint/2010/main" val="3197352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188"/>
          </a:xfrm>
          <a:prstGeom prst="rect">
            <a:avLst/>
          </a:prstGeom>
        </p:spPr>
        <p:txBody>
          <a:bodyPr vert="horz" lIns="91440" tIns="45720" rIns="91440" bIns="45720" rtlCol="0"/>
          <a:lstStyle>
            <a:lvl1pPr algn="r">
              <a:defRPr sz="1200"/>
            </a:lvl1pPr>
          </a:lstStyle>
          <a:p>
            <a:fld id="{9E990413-E5F3-42D2-96F0-9648DCC8030B}" type="datetimeFigureOut">
              <a:rPr kumimoji="1" lang="ja-JP" altLang="en-US" smtClean="0"/>
              <a:t>2025/6/17</a:t>
            </a:fld>
            <a:endParaRPr kumimoji="1" lang="ja-JP" altLang="en-US"/>
          </a:p>
        </p:txBody>
      </p:sp>
      <p:sp>
        <p:nvSpPr>
          <p:cNvPr id="4" name="スライド イメージ プレースホルダー 3"/>
          <p:cNvSpPr>
            <a:spLocks noGrp="1" noRot="1" noChangeAspect="1"/>
          </p:cNvSpPr>
          <p:nvPr>
            <p:ph type="sldImg" idx="2"/>
          </p:nvPr>
        </p:nvSpPr>
        <p:spPr>
          <a:xfrm>
            <a:off x="407988" y="1233488"/>
            <a:ext cx="5919787"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9691"/>
            <a:ext cx="5388610" cy="388611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4301"/>
            <a:ext cx="2918831"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4301"/>
            <a:ext cx="2918831" cy="495187"/>
          </a:xfrm>
          <a:prstGeom prst="rect">
            <a:avLst/>
          </a:prstGeom>
        </p:spPr>
        <p:txBody>
          <a:bodyPr vert="horz" lIns="91440" tIns="45720" rIns="91440" bIns="45720" rtlCol="0" anchor="b"/>
          <a:lstStyle>
            <a:lvl1pPr algn="r">
              <a:defRPr sz="1200"/>
            </a:lvl1pPr>
          </a:lstStyle>
          <a:p>
            <a:fld id="{22D97918-95E2-4B64-AD5F-DA344D8268E5}" type="slidenum">
              <a:rPr kumimoji="1" lang="ja-JP" altLang="en-US" smtClean="0"/>
              <a:t>‹#›</a:t>
            </a:fld>
            <a:endParaRPr kumimoji="1" lang="ja-JP" altLang="en-US"/>
          </a:p>
        </p:txBody>
      </p:sp>
    </p:spTree>
    <p:extLst>
      <p:ext uri="{BB962C8B-B14F-4D97-AF65-F5344CB8AC3E}">
        <p14:creationId xmlns:p14="http://schemas.microsoft.com/office/powerpoint/2010/main" val="195011819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EA6E-A6B1-BA3F-7C34-5A90AB7021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DEB66F-6797-FA71-8AA7-7864478DF5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EEEE914-417D-1056-DB3D-060B0063C25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DD10FBB-A9A3-D09E-69E9-7A3753F645E8}"/>
              </a:ext>
            </a:extLst>
          </p:cNvPr>
          <p:cNvSpPr>
            <a:spLocks noGrp="1"/>
          </p:cNvSpPr>
          <p:nvPr>
            <p:ph type="sldNum" sz="quarter" idx="10"/>
          </p:nvPr>
        </p:nvSpPr>
        <p:spPr/>
        <p:txBody>
          <a:bodyPr/>
          <a:lstStyle/>
          <a:p>
            <a:fld id="{22D97918-95E2-4B64-AD5F-DA344D8268E5}" type="slidenum">
              <a:rPr kumimoji="1" lang="ja-JP" altLang="en-US" smtClean="0"/>
              <a:t>5</a:t>
            </a:fld>
            <a:endParaRPr kumimoji="1" lang="ja-JP" altLang="en-US"/>
          </a:p>
        </p:txBody>
      </p:sp>
    </p:spTree>
    <p:extLst>
      <p:ext uri="{BB962C8B-B14F-4D97-AF65-F5344CB8AC3E}">
        <p14:creationId xmlns:p14="http://schemas.microsoft.com/office/powerpoint/2010/main" val="2498118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237850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4179579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348360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4190384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932783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1" y="4799"/>
            <a:ext cx="12191999" cy="713232"/>
          </a:xfrm>
        </p:spPr>
        <p:txBody>
          <a:bodyPr>
            <a:normAutofit/>
          </a:bodyPr>
          <a:lstStyle>
            <a:lvl1pPr>
              <a:defRPr sz="3600">
                <a:solidFill>
                  <a:schemeClr val="accent1">
                    <a:lumMod val="75000"/>
                  </a:schemeClr>
                </a:solidFill>
              </a:defRPr>
            </a:lvl1p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
        <p:nvSpPr>
          <p:cNvPr id="6" name="正方形/長方形 5"/>
          <p:cNvSpPr/>
          <p:nvPr userDrawn="1"/>
        </p:nvSpPr>
        <p:spPr>
          <a:xfrm>
            <a:off x="-2" y="718031"/>
            <a:ext cx="1219200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44864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1156235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3162575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1321424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4262992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C3A9B90-C77A-44C4-92A3-7109F0BD02B6}" type="datetimeFigureOut">
              <a:rPr kumimoji="1" lang="ja-JP" altLang="en-US" smtClean="0"/>
              <a:t>2025/6/17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1466809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3A9B90-C77A-44C4-92A3-7109F0BD02B6}" type="datetimeFigureOut">
              <a:rPr kumimoji="1" lang="ja-JP" altLang="en-US" smtClean="0"/>
              <a:t>2025/6/17</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EEFDCB-2510-4021-A9D0-32C27D4C6064}" type="slidenum">
              <a:rPr kumimoji="1" lang="ja-JP" altLang="en-US" smtClean="0"/>
              <a:t>‹#›</a:t>
            </a:fld>
            <a:endParaRPr kumimoji="1" lang="ja-JP" altLang="en-US"/>
          </a:p>
        </p:txBody>
      </p:sp>
    </p:spTree>
    <p:extLst>
      <p:ext uri="{BB962C8B-B14F-4D97-AF65-F5344CB8AC3E}">
        <p14:creationId xmlns:p14="http://schemas.microsoft.com/office/powerpoint/2010/main" val="226902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3.svg"/><Relationship Id="rId4" Type="http://schemas.openxmlformats.org/officeDocument/2006/relationships/image" Target="../media/image7.svg"/><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4.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角丸四角形 8"/>
          <p:cNvSpPr/>
          <p:nvPr/>
        </p:nvSpPr>
        <p:spPr>
          <a:xfrm>
            <a:off x="917028" y="1672300"/>
            <a:ext cx="10234246" cy="262754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Medium" panose="020B0500000000000000" pitchFamily="50" charset="-128"/>
              <a:ea typeface="游ゴシック Medium" panose="020B0500000000000000" pitchFamily="50" charset="-128"/>
            </a:endParaRPr>
          </a:p>
        </p:txBody>
      </p:sp>
      <p:sp>
        <p:nvSpPr>
          <p:cNvPr id="4" name="テキスト ボックス 3"/>
          <p:cNvSpPr txBox="1"/>
          <p:nvPr/>
        </p:nvSpPr>
        <p:spPr>
          <a:xfrm>
            <a:off x="1437062" y="765554"/>
            <a:ext cx="9311524" cy="523220"/>
          </a:xfrm>
          <a:prstGeom prst="rect">
            <a:avLst/>
          </a:prstGeom>
          <a:noFill/>
        </p:spPr>
        <p:txBody>
          <a:bodyPr wrap="square" rtlCol="0">
            <a:spAutoFit/>
          </a:bodyPr>
          <a:lstStyle/>
          <a:p>
            <a:pPr algn="ctr"/>
            <a:r>
              <a:rPr lang="ja-JP" altLang="en-US" sz="2800" b="1" dirty="0">
                <a:latin typeface="游ゴシック Medium" panose="020B0500000000000000" pitchFamily="50" charset="-128"/>
                <a:ea typeface="游ゴシック Medium" panose="020B0500000000000000" pitchFamily="50" charset="-128"/>
              </a:rPr>
              <a:t>ロジスティクスワールド</a:t>
            </a:r>
            <a:r>
              <a:rPr kumimoji="1" lang="ja-JP" altLang="en-US" sz="2800" b="1" dirty="0">
                <a:latin typeface="游ゴシック Medium" panose="020B0500000000000000" pitchFamily="50" charset="-128"/>
                <a:ea typeface="游ゴシック Medium" panose="020B0500000000000000" pitchFamily="50" charset="-128"/>
              </a:rPr>
              <a:t>様　</a:t>
            </a:r>
            <a:r>
              <a:rPr lang="ja-JP" altLang="en-US" sz="2800" b="1" dirty="0">
                <a:latin typeface="游ゴシック Medium" panose="020B0500000000000000" pitchFamily="50" charset="-128"/>
                <a:ea typeface="游ゴシック Medium" panose="020B0500000000000000" pitchFamily="50" charset="-128"/>
              </a:rPr>
              <a:t>物流</a:t>
            </a:r>
            <a:r>
              <a:rPr kumimoji="1" lang="ja-JP" altLang="en-US" sz="2800" b="1" dirty="0">
                <a:latin typeface="游ゴシック Medium" panose="020B0500000000000000" pitchFamily="50" charset="-128"/>
                <a:ea typeface="游ゴシック Medium" panose="020B0500000000000000" pitchFamily="50" charset="-128"/>
              </a:rPr>
              <a:t>管理システム</a:t>
            </a:r>
          </a:p>
        </p:txBody>
      </p:sp>
      <p:sp>
        <p:nvSpPr>
          <p:cNvPr id="5" name="テキスト ボックス 4"/>
          <p:cNvSpPr txBox="1"/>
          <p:nvPr/>
        </p:nvSpPr>
        <p:spPr>
          <a:xfrm>
            <a:off x="1066198" y="2439352"/>
            <a:ext cx="9759762" cy="830997"/>
          </a:xfrm>
          <a:prstGeom prst="rect">
            <a:avLst/>
          </a:prstGeom>
          <a:noFill/>
        </p:spPr>
        <p:txBody>
          <a:bodyPr wrap="square" rtlCol="0">
            <a:spAutoFit/>
          </a:bodyPr>
          <a:lstStyle/>
          <a:p>
            <a:pPr algn="ctr"/>
            <a:r>
              <a:rPr lang="ja-JP" altLang="en-US" sz="4800" dirty="0">
                <a:solidFill>
                  <a:schemeClr val="bg1"/>
                </a:solidFill>
                <a:latin typeface="游ゴシック Medium" panose="020B0500000000000000" pitchFamily="50" charset="-128"/>
                <a:ea typeface="游ゴシック Medium" panose="020B0500000000000000" pitchFamily="50" charset="-128"/>
              </a:rPr>
              <a:t>受注連携の一括処理</a:t>
            </a:r>
            <a:endParaRPr kumimoji="1" lang="ja-JP" altLang="en-US" sz="4800" dirty="0">
              <a:solidFill>
                <a:schemeClr val="bg1"/>
              </a:solidFill>
              <a:latin typeface="游ゴシック Medium" panose="020B0500000000000000" pitchFamily="50" charset="-128"/>
              <a:ea typeface="游ゴシック Medium" panose="020B0500000000000000" pitchFamily="50" charset="-128"/>
            </a:endParaRPr>
          </a:p>
        </p:txBody>
      </p:sp>
      <p:pic>
        <p:nvPicPr>
          <p:cNvPr id="6" name="図 5"/>
          <p:cNvPicPr>
            <a:picLocks noChangeAspect="1"/>
          </p:cNvPicPr>
          <p:nvPr/>
        </p:nvPicPr>
        <p:blipFill>
          <a:blip r:embed="rId2"/>
          <a:stretch>
            <a:fillRect/>
          </a:stretch>
        </p:blipFill>
        <p:spPr>
          <a:xfrm>
            <a:off x="10825960" y="6053562"/>
            <a:ext cx="1020509" cy="448289"/>
          </a:xfrm>
          <a:prstGeom prst="rect">
            <a:avLst/>
          </a:prstGeom>
        </p:spPr>
      </p:pic>
      <p:grpSp>
        <p:nvGrpSpPr>
          <p:cNvPr id="2" name="Group 4"/>
          <p:cNvGrpSpPr>
            <a:grpSpLocks noChangeAspect="1"/>
          </p:cNvGrpSpPr>
          <p:nvPr/>
        </p:nvGrpSpPr>
        <p:grpSpPr bwMode="auto">
          <a:xfrm>
            <a:off x="4722018" y="4632943"/>
            <a:ext cx="2747963" cy="344487"/>
            <a:chOff x="2858" y="2963"/>
            <a:chExt cx="1731" cy="217"/>
          </a:xfrm>
        </p:grpSpPr>
        <p:sp>
          <p:nvSpPr>
            <p:cNvPr id="3" name="AutoShape 3"/>
            <p:cNvSpPr>
              <a:spLocks noChangeAspect="1" noChangeArrowheads="1" noTextEdit="1"/>
            </p:cNvSpPr>
            <p:nvPr/>
          </p:nvSpPr>
          <p:spPr bwMode="auto">
            <a:xfrm>
              <a:off x="2858" y="2963"/>
              <a:ext cx="1731"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endParaRPr lang="ja-JP" altLang="en-US"/>
            </a:p>
          </p:txBody>
        </p:sp>
        <p:sp>
          <p:nvSpPr>
            <p:cNvPr id="10" name="Rectangle 5"/>
            <p:cNvSpPr>
              <a:spLocks noChangeArrowheads="1"/>
            </p:cNvSpPr>
            <p:nvPr/>
          </p:nvSpPr>
          <p:spPr bwMode="auto">
            <a:xfrm>
              <a:off x="3133" y="3006"/>
              <a:ext cx="117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ja-JP" altLang="ja-JP" sz="1800" b="1"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cs typeface="Meiryo UI" panose="020B0604030504040204" pitchFamily="50" charset="-128"/>
                </a:rPr>
                <a:t>２０２</a:t>
              </a:r>
              <a:r>
                <a:rPr kumimoji="0" lang="en-US" altLang="ja-JP" b="1" dirty="0">
                  <a:solidFill>
                    <a:srgbClr val="000000"/>
                  </a:solidFill>
                  <a:latin typeface="游ゴシック Medium" panose="020B0500000000000000" pitchFamily="50" charset="-128"/>
                  <a:ea typeface="游ゴシック Medium" panose="020B0500000000000000" pitchFamily="50" charset="-128"/>
                  <a:cs typeface="Meiryo UI" panose="020B0604030504040204" pitchFamily="50" charset="-128"/>
                </a:rPr>
                <a:t>5</a:t>
              </a:r>
              <a:r>
                <a:rPr kumimoji="0" lang="ja-JP" altLang="ja-JP" sz="1800" b="1"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cs typeface="Meiryo UI" panose="020B0604030504040204" pitchFamily="50" charset="-128"/>
                </a:rPr>
                <a:t>年</a:t>
              </a:r>
              <a:r>
                <a:rPr kumimoji="0" lang="en-US" altLang="ja-JP" sz="1800" b="1"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cs typeface="Meiryo UI" panose="020B0604030504040204" pitchFamily="50" charset="-128"/>
                </a:rPr>
                <a:t>6</a:t>
              </a:r>
              <a:r>
                <a:rPr kumimoji="0" lang="ja-JP" altLang="ja-JP" sz="1800" b="1"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cs typeface="Meiryo UI" panose="020B0604030504040204" pitchFamily="50" charset="-128"/>
                </a:rPr>
                <a:t>月</a:t>
              </a:r>
              <a:r>
                <a:rPr kumimoji="0" lang="en-US" altLang="ja-JP" sz="1800" b="1"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cs typeface="Meiryo UI" panose="020B0604030504040204" pitchFamily="50" charset="-128"/>
                </a:rPr>
                <a:t>15</a:t>
              </a:r>
              <a:r>
                <a:rPr kumimoji="0" lang="ja-JP" altLang="en-US" sz="1800" b="1"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cs typeface="Meiryo UI" panose="020B0604030504040204" pitchFamily="50" charset="-128"/>
                </a:rPr>
                <a:t>日</a:t>
              </a:r>
              <a:endParaRPr kumimoji="0" lang="ja-JP" altLang="ja-JP" sz="1800" b="1" i="0" u="none" strike="noStrike" cap="none" normalizeH="0" baseline="0" dirty="0">
                <a:ln>
                  <a:noFill/>
                </a:ln>
                <a:solidFill>
                  <a:schemeClr val="tx1"/>
                </a:solidFill>
                <a:effectLst/>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grpSp>
      <p:grpSp>
        <p:nvGrpSpPr>
          <p:cNvPr id="8" name="Group 4">
            <a:extLst>
              <a:ext uri="{FF2B5EF4-FFF2-40B4-BE49-F238E27FC236}">
                <a16:creationId xmlns:a16="http://schemas.microsoft.com/office/drawing/2014/main" id="{6F9DE3AE-AF99-0926-F772-6006ABA17D23}"/>
              </a:ext>
            </a:extLst>
          </p:cNvPr>
          <p:cNvGrpSpPr>
            <a:grpSpLocks noChangeAspect="1"/>
          </p:cNvGrpSpPr>
          <p:nvPr/>
        </p:nvGrpSpPr>
        <p:grpSpPr bwMode="auto">
          <a:xfrm>
            <a:off x="8929688" y="6053138"/>
            <a:ext cx="2406650" cy="498475"/>
            <a:chOff x="5625" y="3813"/>
            <a:chExt cx="1516" cy="314"/>
          </a:xfrm>
        </p:grpSpPr>
        <p:sp>
          <p:nvSpPr>
            <p:cNvPr id="11" name="AutoShape 3">
              <a:extLst>
                <a:ext uri="{FF2B5EF4-FFF2-40B4-BE49-F238E27FC236}">
                  <a16:creationId xmlns:a16="http://schemas.microsoft.com/office/drawing/2014/main" id="{F30303B6-74DC-99F2-A9C9-6215605E6EDA}"/>
                </a:ext>
              </a:extLst>
            </p:cNvPr>
            <p:cNvSpPr>
              <a:spLocks noChangeAspect="1" noChangeArrowheads="1" noTextEdit="1"/>
            </p:cNvSpPr>
            <p:nvPr/>
          </p:nvSpPr>
          <p:spPr bwMode="auto">
            <a:xfrm>
              <a:off x="5625" y="3813"/>
              <a:ext cx="1516"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 name="Rectangle 5">
              <a:extLst>
                <a:ext uri="{FF2B5EF4-FFF2-40B4-BE49-F238E27FC236}">
                  <a16:creationId xmlns:a16="http://schemas.microsoft.com/office/drawing/2014/main" id="{FBABCC0B-9F7F-83CA-FFDA-AAEBBF973B06}"/>
                </a:ext>
              </a:extLst>
            </p:cNvPr>
            <p:cNvSpPr>
              <a:spLocks noChangeArrowheads="1"/>
            </p:cNvSpPr>
            <p:nvPr/>
          </p:nvSpPr>
          <p:spPr bwMode="auto">
            <a:xfrm>
              <a:off x="5671" y="3864"/>
              <a:ext cx="130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a:ln>
                    <a:noFill/>
                  </a:ln>
                  <a:solidFill>
                    <a:srgbClr val="000000"/>
                  </a:solidFill>
                  <a:effectLst/>
                  <a:latin typeface="游ゴシック Medium" panose="020B0500000000000000" pitchFamily="50" charset="-128"/>
                  <a:ea typeface="游ゴシック Medium" panose="020B0500000000000000" pitchFamily="50" charset="-128"/>
                </a:rPr>
                <a:t>All Right Reserved,Copyright </a:t>
              </a:r>
              <a:endParaRPr kumimoji="0" lang="ja-JP" altLang="ja-JP" sz="1800" b="0" i="0" u="none" strike="noStrike" cap="none" normalizeH="0" baseline="0">
                <a:ln>
                  <a:noFill/>
                </a:ln>
                <a:solidFill>
                  <a:schemeClr val="tx1"/>
                </a:solidFill>
                <a:effectLst/>
                <a:latin typeface="游ゴシック Medium" panose="020B0500000000000000" pitchFamily="50" charset="-128"/>
                <a:ea typeface="游ゴシック Medium" panose="020B0500000000000000" pitchFamily="50" charset="-128"/>
              </a:endParaRPr>
            </a:p>
          </p:txBody>
        </p:sp>
        <p:sp>
          <p:nvSpPr>
            <p:cNvPr id="13" name="Rectangle 6">
              <a:extLst>
                <a:ext uri="{FF2B5EF4-FFF2-40B4-BE49-F238E27FC236}">
                  <a16:creationId xmlns:a16="http://schemas.microsoft.com/office/drawing/2014/main" id="{7952488D-D8B6-C606-A5CC-E2B791892A04}"/>
                </a:ext>
              </a:extLst>
            </p:cNvPr>
            <p:cNvSpPr>
              <a:spLocks noChangeArrowheads="1"/>
            </p:cNvSpPr>
            <p:nvPr/>
          </p:nvSpPr>
          <p:spPr bwMode="auto">
            <a:xfrm>
              <a:off x="5671" y="3980"/>
              <a:ext cx="130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200" b="0"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rPr>
                <a:t>株式会社ジェイ・フォス 202</a:t>
              </a:r>
              <a:r>
                <a:rPr kumimoji="0" lang="en-US" altLang="ja-JP" sz="1200" b="0" i="0" u="none" strike="noStrike" cap="none" normalizeH="0" baseline="0" dirty="0">
                  <a:ln>
                    <a:noFill/>
                  </a:ln>
                  <a:solidFill>
                    <a:srgbClr val="000000"/>
                  </a:solidFill>
                  <a:effectLst/>
                  <a:latin typeface="游ゴシック Medium" panose="020B0500000000000000" pitchFamily="50" charset="-128"/>
                  <a:ea typeface="游ゴシック Medium" panose="020B0500000000000000" pitchFamily="50" charset="-128"/>
                </a:rPr>
                <a:t>5</a:t>
              </a:r>
              <a:endParaRPr kumimoji="0" lang="ja-JP" altLang="ja-JP" sz="1800" b="0" i="0" u="none" strike="noStrike" cap="none" normalizeH="0" baseline="0" dirty="0">
                <a:ln>
                  <a:noFill/>
                </a:ln>
                <a:solidFill>
                  <a:schemeClr val="tx1"/>
                </a:solidFill>
                <a:effectLst/>
                <a:latin typeface="游ゴシック Medium" panose="020B0500000000000000" pitchFamily="50" charset="-128"/>
                <a:ea typeface="游ゴシック Medium" panose="020B0500000000000000" pitchFamily="50" charset="-128"/>
              </a:endParaRPr>
            </a:p>
          </p:txBody>
        </p:sp>
      </p:grpSp>
    </p:spTree>
    <p:extLst>
      <p:ext uri="{BB962C8B-B14F-4D97-AF65-F5344CB8AC3E}">
        <p14:creationId xmlns:p14="http://schemas.microsoft.com/office/powerpoint/2010/main" val="414264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0515600" cy="713232"/>
          </a:xfrm>
        </p:spPr>
        <p:txBody>
          <a:bodyPr>
            <a:normAutofit/>
          </a:bodyPr>
          <a:lstStyle/>
          <a:p>
            <a:r>
              <a:rPr lang="ja-JP" altLang="en-US" dirty="0">
                <a:latin typeface="游ゴシック Medium" panose="020B0500000000000000" pitchFamily="50" charset="-128"/>
                <a:ea typeface="游ゴシック Medium" panose="020B0500000000000000" pitchFamily="50" charset="-128"/>
              </a:rPr>
              <a:t>１</a:t>
            </a:r>
            <a:r>
              <a:rPr lang="ja-JP" altLang="en-US" sz="3600" dirty="0">
                <a:latin typeface="游ゴシック Medium" panose="020B0500000000000000" pitchFamily="50" charset="-128"/>
                <a:ea typeface="游ゴシック Medium" panose="020B0500000000000000" pitchFamily="50" charset="-128"/>
              </a:rPr>
              <a:t>．概要</a:t>
            </a:r>
            <a:endParaRPr kumimoji="1" lang="ja-JP" altLang="en-US" sz="3600" dirty="0">
              <a:latin typeface="游ゴシック Medium" panose="020B0500000000000000" pitchFamily="50" charset="-128"/>
              <a:ea typeface="游ゴシック Medium" panose="020B0500000000000000" pitchFamily="50" charset="-128"/>
            </a:endParaRPr>
          </a:p>
        </p:txBody>
      </p:sp>
      <p:sp>
        <p:nvSpPr>
          <p:cNvPr id="4" name="テキスト ボックス 3"/>
          <p:cNvSpPr txBox="1"/>
          <p:nvPr/>
        </p:nvSpPr>
        <p:spPr>
          <a:xfrm>
            <a:off x="283062" y="1130366"/>
            <a:ext cx="2152871" cy="369332"/>
          </a:xfrm>
          <a:prstGeom prst="rect">
            <a:avLst/>
          </a:prstGeom>
          <a:noFill/>
        </p:spPr>
        <p:txBody>
          <a:bodyPr wrap="square" rtlCol="0">
            <a:spAutoFit/>
          </a:bodyPr>
          <a:lstStyle/>
          <a:p>
            <a:r>
              <a:rPr lang="en-US" altLang="ja-JP" b="1" dirty="0">
                <a:latin typeface="游ゴシック Medium" panose="020B0500000000000000" pitchFamily="50" charset="-128"/>
                <a:ea typeface="游ゴシック Medium" panose="020B0500000000000000" pitchFamily="50" charset="-128"/>
              </a:rPr>
              <a:t>【</a:t>
            </a:r>
            <a:r>
              <a:rPr lang="ja-JP" altLang="en-US" b="1" dirty="0">
                <a:latin typeface="游ゴシック Medium" panose="020B0500000000000000" pitchFamily="50" charset="-128"/>
                <a:ea typeface="游ゴシック Medium" panose="020B0500000000000000" pitchFamily="50" charset="-128"/>
              </a:rPr>
              <a:t>目的</a:t>
            </a:r>
            <a:r>
              <a:rPr lang="en-US" altLang="ja-JP" b="1" dirty="0">
                <a:latin typeface="游ゴシック Medium" panose="020B0500000000000000" pitchFamily="50" charset="-128"/>
                <a:ea typeface="游ゴシック Medium" panose="020B0500000000000000" pitchFamily="50" charset="-128"/>
              </a:rPr>
              <a:t>】</a:t>
            </a:r>
            <a:endParaRPr kumimoji="1" lang="ja-JP" altLang="en-US" b="1" dirty="0">
              <a:latin typeface="游ゴシック Medium" panose="020B0500000000000000" pitchFamily="50" charset="-128"/>
              <a:ea typeface="游ゴシック Medium" panose="020B0500000000000000" pitchFamily="50" charset="-128"/>
            </a:endParaRPr>
          </a:p>
        </p:txBody>
      </p:sp>
      <p:sp>
        <p:nvSpPr>
          <p:cNvPr id="6" name="正方形/長方形 5"/>
          <p:cNvSpPr/>
          <p:nvPr/>
        </p:nvSpPr>
        <p:spPr>
          <a:xfrm>
            <a:off x="1014646" y="1589135"/>
            <a:ext cx="10515600" cy="738664"/>
          </a:xfrm>
          <a:prstGeom prst="rect">
            <a:avLst/>
          </a:prstGeom>
        </p:spPr>
        <p:txBody>
          <a:bodyPr wrap="square">
            <a:spAutoFit/>
          </a:bodyPr>
          <a:lstStyle/>
          <a:p>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からの受注連携の取込オペレーションに時間を要しており、事務作業負担が大きくなってしまっている。</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一連のオペレーションを簡略または自動化をすることで負担軽減をし、事務作業の負担や時間を節約し作業効率の向上を図る。</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p:txBody>
      </p:sp>
      <p:sp>
        <p:nvSpPr>
          <p:cNvPr id="13" name="テキスト ボックス 12"/>
          <p:cNvSpPr txBox="1"/>
          <p:nvPr/>
        </p:nvSpPr>
        <p:spPr>
          <a:xfrm>
            <a:off x="969871" y="4165645"/>
            <a:ext cx="7233526" cy="307777"/>
          </a:xfrm>
          <a:prstGeom prst="rect">
            <a:avLst/>
          </a:prstGeom>
          <a:noFill/>
        </p:spPr>
        <p:txBody>
          <a:bodyPr wrap="square" rtlCol="0">
            <a:spAutoFit/>
          </a:bodyPr>
          <a:lstStyle/>
          <a:p>
            <a:r>
              <a:rPr kumimoji="1" lang="ja-JP" altLang="en-US" sz="1400" dirty="0">
                <a:latin typeface="游ゴシック Medium" panose="020B0500000000000000" pitchFamily="50" charset="-128"/>
                <a:ea typeface="游ゴシック Medium" panose="020B0500000000000000" pitchFamily="50" charset="-128"/>
              </a:rPr>
              <a:t>①</a:t>
            </a:r>
            <a:r>
              <a:rPr lang="ja-JP" altLang="en-US" sz="1400" dirty="0">
                <a:latin typeface="游ゴシック Medium" panose="020B0500000000000000" pitchFamily="50" charset="-128"/>
                <a:ea typeface="游ゴシック Medium" panose="020B0500000000000000" pitchFamily="50" charset="-128"/>
              </a:rPr>
              <a:t>未取込データを確認し受信取込定義を特定する作業を要する。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5" name="テキスト ボックス 4">
            <a:extLst>
              <a:ext uri="{FF2B5EF4-FFF2-40B4-BE49-F238E27FC236}">
                <a16:creationId xmlns:a16="http://schemas.microsoft.com/office/drawing/2014/main" id="{284CD021-17A9-B6D6-4047-5464C7AE06D7}"/>
              </a:ext>
            </a:extLst>
          </p:cNvPr>
          <p:cNvSpPr txBox="1"/>
          <p:nvPr/>
        </p:nvSpPr>
        <p:spPr>
          <a:xfrm>
            <a:off x="969871" y="4541329"/>
            <a:ext cx="8827667" cy="307777"/>
          </a:xfrm>
          <a:prstGeom prst="rect">
            <a:avLst/>
          </a:prstGeom>
          <a:noFill/>
        </p:spPr>
        <p:txBody>
          <a:bodyPr wrap="square" rtlCol="0">
            <a:spAutoFit/>
          </a:bodyPr>
          <a:lstStyle/>
          <a:p>
            <a:r>
              <a:rPr kumimoji="1" lang="ja-JP" altLang="en-US" sz="1400" dirty="0">
                <a:latin typeface="游ゴシック Medium" panose="020B0500000000000000" pitchFamily="50" charset="-128"/>
                <a:ea typeface="游ゴシック Medium" panose="020B0500000000000000" pitchFamily="50" charset="-128"/>
              </a:rPr>
              <a:t>②特定した受信取込定義番号ごとに何度も受信取込を行う必要がある。</a:t>
            </a:r>
          </a:p>
        </p:txBody>
      </p:sp>
      <p:sp>
        <p:nvSpPr>
          <p:cNvPr id="8" name="テキスト ボックス 7">
            <a:extLst>
              <a:ext uri="{FF2B5EF4-FFF2-40B4-BE49-F238E27FC236}">
                <a16:creationId xmlns:a16="http://schemas.microsoft.com/office/drawing/2014/main" id="{F20D3F6B-4EAD-DE55-65CE-A0D0ED986ECA}"/>
              </a:ext>
            </a:extLst>
          </p:cNvPr>
          <p:cNvSpPr txBox="1"/>
          <p:nvPr/>
        </p:nvSpPr>
        <p:spPr>
          <a:xfrm>
            <a:off x="283063" y="3593773"/>
            <a:ext cx="2152871" cy="369332"/>
          </a:xfrm>
          <a:prstGeom prst="rect">
            <a:avLst/>
          </a:prstGeom>
          <a:noFill/>
        </p:spPr>
        <p:txBody>
          <a:bodyPr wrap="square" rtlCol="0">
            <a:spAutoFit/>
          </a:bodyPr>
          <a:lstStyle/>
          <a:p>
            <a:r>
              <a:rPr lang="en-US" altLang="ja-JP" b="1" dirty="0">
                <a:latin typeface="游ゴシック Medium" panose="020B0500000000000000" pitchFamily="50" charset="-128"/>
                <a:ea typeface="游ゴシック Medium" panose="020B0500000000000000" pitchFamily="50" charset="-128"/>
              </a:rPr>
              <a:t>【</a:t>
            </a:r>
            <a:r>
              <a:rPr lang="ja-JP" altLang="en-US" b="1" dirty="0">
                <a:latin typeface="游ゴシック Medium" panose="020B0500000000000000" pitchFamily="50" charset="-128"/>
                <a:ea typeface="游ゴシック Medium" panose="020B0500000000000000" pitchFamily="50" charset="-128"/>
              </a:rPr>
              <a:t>問題点</a:t>
            </a:r>
            <a:r>
              <a:rPr lang="en-US" altLang="ja-JP" b="1" dirty="0">
                <a:latin typeface="游ゴシック Medium" panose="020B0500000000000000" pitchFamily="50" charset="-128"/>
                <a:ea typeface="游ゴシック Medium" panose="020B0500000000000000" pitchFamily="50" charset="-128"/>
              </a:rPr>
              <a:t>】</a:t>
            </a:r>
            <a:endParaRPr kumimoji="1" lang="ja-JP" altLang="en-US" b="1" dirty="0">
              <a:latin typeface="游ゴシック Medium" panose="020B0500000000000000" pitchFamily="50" charset="-128"/>
              <a:ea typeface="游ゴシック Medium" panose="020B0500000000000000" pitchFamily="50" charset="-128"/>
            </a:endParaRPr>
          </a:p>
        </p:txBody>
      </p:sp>
      <p:sp>
        <p:nvSpPr>
          <p:cNvPr id="10" name="テキスト ボックス 9">
            <a:extLst>
              <a:ext uri="{FF2B5EF4-FFF2-40B4-BE49-F238E27FC236}">
                <a16:creationId xmlns:a16="http://schemas.microsoft.com/office/drawing/2014/main" id="{749FAF99-5064-D94B-2F92-885BFDEB9B30}"/>
              </a:ext>
            </a:extLst>
          </p:cNvPr>
          <p:cNvSpPr txBox="1"/>
          <p:nvPr/>
        </p:nvSpPr>
        <p:spPr>
          <a:xfrm>
            <a:off x="283061" y="5271367"/>
            <a:ext cx="2152871" cy="369332"/>
          </a:xfrm>
          <a:prstGeom prst="rect">
            <a:avLst/>
          </a:prstGeom>
          <a:noFill/>
        </p:spPr>
        <p:txBody>
          <a:bodyPr wrap="square" rtlCol="0">
            <a:spAutoFit/>
          </a:bodyPr>
          <a:lstStyle/>
          <a:p>
            <a:r>
              <a:rPr lang="en-US" altLang="ja-JP" b="1" dirty="0">
                <a:latin typeface="游ゴシック Medium" panose="020B0500000000000000" pitchFamily="50" charset="-128"/>
                <a:ea typeface="游ゴシック Medium" panose="020B0500000000000000" pitchFamily="50" charset="-128"/>
              </a:rPr>
              <a:t>【</a:t>
            </a:r>
            <a:r>
              <a:rPr lang="ja-JP" altLang="en-US" b="1" dirty="0">
                <a:latin typeface="游ゴシック Medium" panose="020B0500000000000000" pitchFamily="50" charset="-128"/>
                <a:ea typeface="游ゴシック Medium" panose="020B0500000000000000" pitchFamily="50" charset="-128"/>
              </a:rPr>
              <a:t>解決</a:t>
            </a:r>
            <a:r>
              <a:rPr lang="en-US" altLang="ja-JP" b="1" dirty="0">
                <a:latin typeface="游ゴシック Medium" panose="020B0500000000000000" pitchFamily="50" charset="-128"/>
                <a:ea typeface="游ゴシック Medium" panose="020B0500000000000000" pitchFamily="50" charset="-128"/>
              </a:rPr>
              <a:t>】</a:t>
            </a:r>
            <a:endParaRPr kumimoji="1" lang="ja-JP" altLang="en-US" b="1" dirty="0">
              <a:latin typeface="游ゴシック Medium" panose="020B0500000000000000" pitchFamily="50" charset="-128"/>
              <a:ea typeface="游ゴシック Medium" panose="020B0500000000000000" pitchFamily="50" charset="-128"/>
            </a:endParaRPr>
          </a:p>
        </p:txBody>
      </p:sp>
      <p:sp>
        <p:nvSpPr>
          <p:cNvPr id="12" name="正方形/長方形 11">
            <a:extLst>
              <a:ext uri="{FF2B5EF4-FFF2-40B4-BE49-F238E27FC236}">
                <a16:creationId xmlns:a16="http://schemas.microsoft.com/office/drawing/2014/main" id="{037F4F31-4353-B96E-94F3-38A97A2CBE86}"/>
              </a:ext>
            </a:extLst>
          </p:cNvPr>
          <p:cNvSpPr/>
          <p:nvPr/>
        </p:nvSpPr>
        <p:spPr>
          <a:xfrm>
            <a:off x="969871" y="5750056"/>
            <a:ext cx="10515600" cy="307777"/>
          </a:xfrm>
          <a:prstGeom prst="rect">
            <a:avLst/>
          </a:prstGeom>
        </p:spPr>
        <p:txBody>
          <a:bodyPr wrap="square">
            <a:spAutoFit/>
          </a:bodyPr>
          <a:lstStyle/>
          <a:p>
            <a:r>
              <a:rPr lang="ja-JP" altLang="en-US" sz="1400" dirty="0">
                <a:latin typeface="游ゴシック Medium" panose="020B0500000000000000" pitchFamily="50" charset="-128"/>
                <a:ea typeface="游ゴシック Medium" panose="020B0500000000000000" pitchFamily="50" charset="-128"/>
              </a:rPr>
              <a:t>運用のベースを大きく変更しないように、</a:t>
            </a:r>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にて受注連携を一括で行う機能の提供をする。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3" name="テキスト ボックス 2">
            <a:extLst>
              <a:ext uri="{FF2B5EF4-FFF2-40B4-BE49-F238E27FC236}">
                <a16:creationId xmlns:a16="http://schemas.microsoft.com/office/drawing/2014/main" id="{CCF0EF8D-77F3-7411-05C3-15B2F436A0EB}"/>
              </a:ext>
            </a:extLst>
          </p:cNvPr>
          <p:cNvSpPr txBox="1"/>
          <p:nvPr/>
        </p:nvSpPr>
        <p:spPr>
          <a:xfrm>
            <a:off x="283063" y="2228353"/>
            <a:ext cx="2152871" cy="369332"/>
          </a:xfrm>
          <a:prstGeom prst="rect">
            <a:avLst/>
          </a:prstGeom>
          <a:noFill/>
        </p:spPr>
        <p:txBody>
          <a:bodyPr wrap="square" rtlCol="0">
            <a:spAutoFit/>
          </a:bodyPr>
          <a:lstStyle/>
          <a:p>
            <a:r>
              <a:rPr lang="en-US" altLang="ja-JP" b="1" dirty="0">
                <a:latin typeface="游ゴシック Medium" panose="020B0500000000000000" pitchFamily="50" charset="-128"/>
                <a:ea typeface="游ゴシック Medium" panose="020B0500000000000000" pitchFamily="50" charset="-128"/>
              </a:rPr>
              <a:t>【</a:t>
            </a:r>
            <a:r>
              <a:rPr lang="ja-JP" altLang="en-US" b="1" dirty="0">
                <a:latin typeface="游ゴシック Medium" panose="020B0500000000000000" pitchFamily="50" charset="-128"/>
                <a:ea typeface="游ゴシック Medium" panose="020B0500000000000000" pitchFamily="50" charset="-128"/>
              </a:rPr>
              <a:t>背景</a:t>
            </a:r>
            <a:r>
              <a:rPr lang="en-US" altLang="ja-JP" b="1" dirty="0">
                <a:latin typeface="游ゴシック Medium" panose="020B0500000000000000" pitchFamily="50" charset="-128"/>
                <a:ea typeface="游ゴシック Medium" panose="020B0500000000000000" pitchFamily="50" charset="-128"/>
              </a:rPr>
              <a:t>】</a:t>
            </a:r>
            <a:endParaRPr kumimoji="1" lang="ja-JP" altLang="en-US" b="1" dirty="0">
              <a:latin typeface="游ゴシック Medium" panose="020B0500000000000000" pitchFamily="50" charset="-128"/>
              <a:ea typeface="游ゴシック Medium" panose="020B0500000000000000" pitchFamily="50" charset="-128"/>
            </a:endParaRPr>
          </a:p>
        </p:txBody>
      </p:sp>
      <p:sp>
        <p:nvSpPr>
          <p:cNvPr id="7" name="正方形/長方形 6">
            <a:extLst>
              <a:ext uri="{FF2B5EF4-FFF2-40B4-BE49-F238E27FC236}">
                <a16:creationId xmlns:a16="http://schemas.microsoft.com/office/drawing/2014/main" id="{D03B0AC4-A9FC-1197-AE83-46CB24A5ED30}"/>
              </a:ext>
            </a:extLst>
          </p:cNvPr>
          <p:cNvSpPr/>
          <p:nvPr/>
        </p:nvSpPr>
        <p:spPr>
          <a:xfrm>
            <a:off x="969871" y="2591454"/>
            <a:ext cx="10515600" cy="738664"/>
          </a:xfrm>
          <a:prstGeom prst="rect">
            <a:avLst/>
          </a:prstGeom>
        </p:spPr>
        <p:txBody>
          <a:bodyPr wrap="square">
            <a:spAutoFit/>
          </a:bodyPr>
          <a:lstStyle/>
          <a:p>
            <a:r>
              <a:rPr lang="ja-JP" altLang="en-US" sz="1400" dirty="0">
                <a:latin typeface="游ゴシック Medium" panose="020B0500000000000000" pitchFamily="50" charset="-128"/>
                <a:ea typeface="游ゴシック Medium" panose="020B0500000000000000" pitchFamily="50" charset="-128"/>
              </a:rPr>
              <a:t>連携について、システム構築当時、</a:t>
            </a:r>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と</a:t>
            </a:r>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のシステムはそれぞれ独立しており、</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相互的に直接データを参照し合わせないようにしてほしい。</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という要望の元で構築された背景があり、現在まで「連携」という運用がなされている。</a:t>
            </a:r>
            <a:endParaRPr lang="en-US" altLang="ja-JP" sz="1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244477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四角形: 角を丸くする 29">
            <a:extLst>
              <a:ext uri="{FF2B5EF4-FFF2-40B4-BE49-F238E27FC236}">
                <a16:creationId xmlns:a16="http://schemas.microsoft.com/office/drawing/2014/main" id="{41C8F705-0F78-1B78-E255-77C9A0AD2F0B}"/>
              </a:ext>
            </a:extLst>
          </p:cNvPr>
          <p:cNvSpPr/>
          <p:nvPr/>
        </p:nvSpPr>
        <p:spPr>
          <a:xfrm>
            <a:off x="7580125" y="1591105"/>
            <a:ext cx="3929825" cy="1812478"/>
          </a:xfrm>
          <a:prstGeom prst="roundRect">
            <a:avLst>
              <a:gd name="adj" fmla="val 7543"/>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Medium" panose="020B0500000000000000" pitchFamily="50" charset="-128"/>
              <a:ea typeface="游ゴシック Medium" panose="020B0500000000000000" pitchFamily="50" charset="-128"/>
            </a:endParaRPr>
          </a:p>
        </p:txBody>
      </p:sp>
      <p:sp>
        <p:nvSpPr>
          <p:cNvPr id="29" name="四角形: 角を丸くする 28">
            <a:extLst>
              <a:ext uri="{FF2B5EF4-FFF2-40B4-BE49-F238E27FC236}">
                <a16:creationId xmlns:a16="http://schemas.microsoft.com/office/drawing/2014/main" id="{782A1534-0648-379D-BE56-58F5B008E44C}"/>
              </a:ext>
            </a:extLst>
          </p:cNvPr>
          <p:cNvSpPr/>
          <p:nvPr/>
        </p:nvSpPr>
        <p:spPr>
          <a:xfrm>
            <a:off x="645458" y="4088084"/>
            <a:ext cx="6934667" cy="2634456"/>
          </a:xfrm>
          <a:prstGeom prst="roundRect">
            <a:avLst>
              <a:gd name="adj" fmla="val 7543"/>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Medium" panose="020B0500000000000000" pitchFamily="50" charset="-128"/>
              <a:ea typeface="游ゴシック Medium" panose="020B0500000000000000" pitchFamily="50" charset="-128"/>
            </a:endParaRPr>
          </a:p>
        </p:txBody>
      </p:sp>
      <p:sp>
        <p:nvSpPr>
          <p:cNvPr id="2" name="タイトル 1">
            <a:extLst>
              <a:ext uri="{FF2B5EF4-FFF2-40B4-BE49-F238E27FC236}">
                <a16:creationId xmlns:a16="http://schemas.microsoft.com/office/drawing/2014/main" id="{10D241F7-8FFA-B84E-2CF6-60818C571930}"/>
              </a:ext>
            </a:extLst>
          </p:cNvPr>
          <p:cNvSpPr>
            <a:spLocks noGrp="1"/>
          </p:cNvSpPr>
          <p:nvPr>
            <p:ph type="title"/>
          </p:nvPr>
        </p:nvSpPr>
        <p:spPr/>
        <p:txBody>
          <a:bodyPr/>
          <a:lstStyle/>
          <a:p>
            <a:r>
              <a:rPr lang="ja-JP" altLang="en-US" dirty="0">
                <a:latin typeface="游ゴシック Medium" panose="020B0500000000000000" pitchFamily="50" charset="-128"/>
                <a:ea typeface="游ゴシック Medium" panose="020B0500000000000000" pitchFamily="50" charset="-128"/>
              </a:rPr>
              <a:t>２．</a:t>
            </a:r>
            <a:r>
              <a:rPr kumimoji="1" lang="ja-JP" altLang="en-US" dirty="0">
                <a:latin typeface="游ゴシック Medium" panose="020B0500000000000000" pitchFamily="50" charset="-128"/>
                <a:ea typeface="游ゴシック Medium" panose="020B0500000000000000" pitchFamily="50" charset="-128"/>
              </a:rPr>
              <a:t>問題点</a:t>
            </a:r>
          </a:p>
        </p:txBody>
      </p:sp>
      <p:sp>
        <p:nvSpPr>
          <p:cNvPr id="5" name="テキスト ボックス 4">
            <a:extLst>
              <a:ext uri="{FF2B5EF4-FFF2-40B4-BE49-F238E27FC236}">
                <a16:creationId xmlns:a16="http://schemas.microsoft.com/office/drawing/2014/main" id="{FEF0D549-E04A-5038-A047-9FBDFFA4C9BF}"/>
              </a:ext>
            </a:extLst>
          </p:cNvPr>
          <p:cNvSpPr txBox="1"/>
          <p:nvPr/>
        </p:nvSpPr>
        <p:spPr>
          <a:xfrm>
            <a:off x="485239" y="1483464"/>
            <a:ext cx="1253400" cy="646331"/>
          </a:xfrm>
          <a:prstGeom prst="rect">
            <a:avLst/>
          </a:prstGeom>
          <a:solidFill>
            <a:schemeClr val="bg1"/>
          </a:solidFill>
        </p:spPr>
        <p:txBody>
          <a:bodyPr wrap="square" rtlCol="0">
            <a:spAutoFit/>
          </a:bodyPr>
          <a:lstStyle/>
          <a:p>
            <a:r>
              <a:rPr kumimoji="1" lang="ja-JP" altLang="en-US" dirty="0">
                <a:latin typeface="游ゴシック Medium" panose="020B0500000000000000" pitchFamily="50" charset="-128"/>
                <a:ea typeface="游ゴシック Medium" panose="020B0500000000000000" pitchFamily="50" charset="-128"/>
              </a:rPr>
              <a:t>イーパック</a:t>
            </a:r>
          </a:p>
        </p:txBody>
      </p:sp>
      <p:sp>
        <p:nvSpPr>
          <p:cNvPr id="7" name="四角形: 角を丸くする 6">
            <a:extLst>
              <a:ext uri="{FF2B5EF4-FFF2-40B4-BE49-F238E27FC236}">
                <a16:creationId xmlns:a16="http://schemas.microsoft.com/office/drawing/2014/main" id="{F9A522CA-4464-172F-EF6F-A29EFCA3297C}"/>
              </a:ext>
            </a:extLst>
          </p:cNvPr>
          <p:cNvSpPr/>
          <p:nvPr/>
        </p:nvSpPr>
        <p:spPr>
          <a:xfrm>
            <a:off x="4289761" y="1426602"/>
            <a:ext cx="2464320" cy="1995478"/>
          </a:xfrm>
          <a:prstGeom prst="roundRect">
            <a:avLst/>
          </a:prstGeom>
          <a:no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latin typeface="游ゴシック Medium" panose="020B0500000000000000" pitchFamily="50" charset="-128"/>
              <a:ea typeface="游ゴシック Medium" panose="020B0500000000000000" pitchFamily="50" charset="-128"/>
            </a:endParaRPr>
          </a:p>
        </p:txBody>
      </p:sp>
      <p:sp>
        <p:nvSpPr>
          <p:cNvPr id="9" name="テキスト ボックス 8">
            <a:extLst>
              <a:ext uri="{FF2B5EF4-FFF2-40B4-BE49-F238E27FC236}">
                <a16:creationId xmlns:a16="http://schemas.microsoft.com/office/drawing/2014/main" id="{4EA876B4-3D1A-B889-F1BF-98B0BA56DCBF}"/>
              </a:ext>
            </a:extLst>
          </p:cNvPr>
          <p:cNvSpPr txBox="1"/>
          <p:nvPr/>
        </p:nvSpPr>
        <p:spPr>
          <a:xfrm>
            <a:off x="4522871" y="1312452"/>
            <a:ext cx="1900638" cy="523220"/>
          </a:xfrm>
          <a:prstGeom prst="rect">
            <a:avLst/>
          </a:prstGeom>
          <a:solidFill>
            <a:schemeClr val="bg1"/>
          </a:solidFill>
        </p:spPr>
        <p:txBody>
          <a:bodyPr wrap="square" rtlCol="0">
            <a:spAutoFit/>
          </a:bodyPr>
          <a:lstStyle/>
          <a:p>
            <a:pPr algn="ctr"/>
            <a:r>
              <a:rPr kumimoji="1" lang="ja-JP" altLang="en-US" sz="1400" dirty="0">
                <a:latin typeface="游ゴシック Medium" panose="020B0500000000000000" pitchFamily="50" charset="-128"/>
                <a:ea typeface="游ゴシック Medium" panose="020B0500000000000000" pitchFamily="50" charset="-128"/>
              </a:rPr>
              <a:t>渋谷</a:t>
            </a:r>
            <a:r>
              <a:rPr kumimoji="1" lang="en-US" altLang="ja-JP" sz="1400" dirty="0">
                <a:latin typeface="游ゴシック Medium" panose="020B0500000000000000" pitchFamily="50" charset="-128"/>
                <a:ea typeface="游ゴシック Medium" panose="020B0500000000000000" pitchFamily="50" charset="-128"/>
              </a:rPr>
              <a:t>DC(</a:t>
            </a:r>
            <a:r>
              <a:rPr kumimoji="1" lang="ja-JP" altLang="en-US" sz="1400" dirty="0">
                <a:latin typeface="游ゴシック Medium" panose="020B0500000000000000" pitchFamily="50" charset="-128"/>
                <a:ea typeface="游ゴシック Medium" panose="020B0500000000000000" pitchFamily="50" charset="-128"/>
              </a:rPr>
              <a:t>未連携データ）</a:t>
            </a:r>
          </a:p>
        </p:txBody>
      </p:sp>
      <p:pic>
        <p:nvPicPr>
          <p:cNvPr id="14" name="グラフィックス 13" descr="コンピューター 単色塗りつぶし">
            <a:extLst>
              <a:ext uri="{FF2B5EF4-FFF2-40B4-BE49-F238E27FC236}">
                <a16:creationId xmlns:a16="http://schemas.microsoft.com/office/drawing/2014/main" id="{6E71658C-33F9-9D5E-159B-B87D4FA14D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30300" y="1415817"/>
            <a:ext cx="914400" cy="914400"/>
          </a:xfrm>
          <a:prstGeom prst="rect">
            <a:avLst/>
          </a:prstGeom>
        </p:spPr>
      </p:pic>
      <p:pic>
        <p:nvPicPr>
          <p:cNvPr id="15" name="グラフィックス 14" descr="コンピューター 単色塗りつぶし">
            <a:extLst>
              <a:ext uri="{FF2B5EF4-FFF2-40B4-BE49-F238E27FC236}">
                <a16:creationId xmlns:a16="http://schemas.microsoft.com/office/drawing/2014/main" id="{31D9353F-8D9B-4B2C-A38D-09F709863C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22440" y="1944535"/>
            <a:ext cx="914400" cy="914400"/>
          </a:xfrm>
          <a:prstGeom prst="rect">
            <a:avLst/>
          </a:prstGeom>
        </p:spPr>
      </p:pic>
      <p:grpSp>
        <p:nvGrpSpPr>
          <p:cNvPr id="17" name="グループ化 16">
            <a:extLst>
              <a:ext uri="{FF2B5EF4-FFF2-40B4-BE49-F238E27FC236}">
                <a16:creationId xmlns:a16="http://schemas.microsoft.com/office/drawing/2014/main" id="{5E64B161-C888-C9B7-3D1D-7AB2A9EF9626}"/>
              </a:ext>
            </a:extLst>
          </p:cNvPr>
          <p:cNvGrpSpPr/>
          <p:nvPr/>
        </p:nvGrpSpPr>
        <p:grpSpPr>
          <a:xfrm>
            <a:off x="4692536" y="1591105"/>
            <a:ext cx="802058" cy="863862"/>
            <a:chOff x="5195560" y="1772584"/>
            <a:chExt cx="900438" cy="1053480"/>
          </a:xfrm>
        </p:grpSpPr>
        <p:pic>
          <p:nvPicPr>
            <p:cNvPr id="12" name="グラフィックス 11" descr="データベース 単色塗りつぶし">
              <a:extLst>
                <a:ext uri="{FF2B5EF4-FFF2-40B4-BE49-F238E27FC236}">
                  <a16:creationId xmlns:a16="http://schemas.microsoft.com/office/drawing/2014/main" id="{66922480-129F-3B56-0231-1759BD662C5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43617" y="1772584"/>
              <a:ext cx="802058" cy="802058"/>
            </a:xfrm>
            <a:prstGeom prst="rect">
              <a:avLst/>
            </a:prstGeom>
          </p:spPr>
        </p:pic>
        <p:sp>
          <p:nvSpPr>
            <p:cNvPr id="16" name="四角形: 角を丸くする 15">
              <a:extLst>
                <a:ext uri="{FF2B5EF4-FFF2-40B4-BE49-F238E27FC236}">
                  <a16:creationId xmlns:a16="http://schemas.microsoft.com/office/drawing/2014/main" id="{12A71A26-65FD-F439-572A-268E977BC859}"/>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コープ</a:t>
              </a:r>
            </a:p>
          </p:txBody>
        </p:sp>
      </p:grpSp>
      <p:grpSp>
        <p:nvGrpSpPr>
          <p:cNvPr id="21" name="グループ化 20">
            <a:extLst>
              <a:ext uri="{FF2B5EF4-FFF2-40B4-BE49-F238E27FC236}">
                <a16:creationId xmlns:a16="http://schemas.microsoft.com/office/drawing/2014/main" id="{87BCB471-8840-EC56-D310-74918AB41DDF}"/>
              </a:ext>
            </a:extLst>
          </p:cNvPr>
          <p:cNvGrpSpPr/>
          <p:nvPr/>
        </p:nvGrpSpPr>
        <p:grpSpPr>
          <a:xfrm>
            <a:off x="5568343" y="1845633"/>
            <a:ext cx="802058" cy="863862"/>
            <a:chOff x="5195560" y="1772584"/>
            <a:chExt cx="900438" cy="1053480"/>
          </a:xfrm>
        </p:grpSpPr>
        <p:pic>
          <p:nvPicPr>
            <p:cNvPr id="22" name="グラフィックス 21" descr="データベース 単色塗りつぶし">
              <a:extLst>
                <a:ext uri="{FF2B5EF4-FFF2-40B4-BE49-F238E27FC236}">
                  <a16:creationId xmlns:a16="http://schemas.microsoft.com/office/drawing/2014/main" id="{02601A7B-7EFA-40D2-18EC-BF38CED56C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43617" y="1772584"/>
              <a:ext cx="802058" cy="802058"/>
            </a:xfrm>
            <a:prstGeom prst="rect">
              <a:avLst/>
            </a:prstGeom>
          </p:spPr>
        </p:pic>
        <p:sp>
          <p:nvSpPr>
            <p:cNvPr id="23" name="四角形: 角を丸くする 22">
              <a:extLst>
                <a:ext uri="{FF2B5EF4-FFF2-40B4-BE49-F238E27FC236}">
                  <a16:creationId xmlns:a16="http://schemas.microsoft.com/office/drawing/2014/main" id="{F4539088-40E8-0267-A327-9CE214FBAF21}"/>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ダイイチ</a:t>
              </a:r>
            </a:p>
          </p:txBody>
        </p:sp>
      </p:grpSp>
      <p:grpSp>
        <p:nvGrpSpPr>
          <p:cNvPr id="24" name="グループ化 23">
            <a:extLst>
              <a:ext uri="{FF2B5EF4-FFF2-40B4-BE49-F238E27FC236}">
                <a16:creationId xmlns:a16="http://schemas.microsoft.com/office/drawing/2014/main" id="{CF30DCDD-A56F-0FCB-D22B-F3BF4CC8BA55}"/>
              </a:ext>
            </a:extLst>
          </p:cNvPr>
          <p:cNvGrpSpPr/>
          <p:nvPr/>
        </p:nvGrpSpPr>
        <p:grpSpPr>
          <a:xfrm>
            <a:off x="885523" y="6020809"/>
            <a:ext cx="714427" cy="697413"/>
            <a:chOff x="5195560" y="1772584"/>
            <a:chExt cx="900438" cy="1053480"/>
          </a:xfrm>
        </p:grpSpPr>
        <p:pic>
          <p:nvPicPr>
            <p:cNvPr id="25" name="グラフィックス 24" descr="データベース 単色塗りつぶし">
              <a:extLst>
                <a:ext uri="{FF2B5EF4-FFF2-40B4-BE49-F238E27FC236}">
                  <a16:creationId xmlns:a16="http://schemas.microsoft.com/office/drawing/2014/main" id="{26D508A0-4ABE-D5F1-1341-6F2706B0F19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43617" y="1772584"/>
              <a:ext cx="802058" cy="802058"/>
            </a:xfrm>
            <a:prstGeom prst="rect">
              <a:avLst/>
            </a:prstGeom>
          </p:spPr>
        </p:pic>
        <p:sp>
          <p:nvSpPr>
            <p:cNvPr id="26" name="四角形: 角を丸くする 25">
              <a:extLst>
                <a:ext uri="{FF2B5EF4-FFF2-40B4-BE49-F238E27FC236}">
                  <a16:creationId xmlns:a16="http://schemas.microsoft.com/office/drawing/2014/main" id="{81DBCE25-0F57-9681-B10D-34D71B799DE2}"/>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ラッキー</a:t>
              </a:r>
            </a:p>
          </p:txBody>
        </p:sp>
      </p:grpSp>
      <p:sp>
        <p:nvSpPr>
          <p:cNvPr id="31" name="矢印: 右 30">
            <a:extLst>
              <a:ext uri="{FF2B5EF4-FFF2-40B4-BE49-F238E27FC236}">
                <a16:creationId xmlns:a16="http://schemas.microsoft.com/office/drawing/2014/main" id="{F31C3F24-1C76-509A-77EE-3C898B3697D8}"/>
              </a:ext>
            </a:extLst>
          </p:cNvPr>
          <p:cNvSpPr/>
          <p:nvPr/>
        </p:nvSpPr>
        <p:spPr>
          <a:xfrm>
            <a:off x="1930300" y="2119696"/>
            <a:ext cx="2278771" cy="815727"/>
          </a:xfrm>
          <a:prstGeom prst="rightArrow">
            <a:avLst>
              <a:gd name="adj1" fmla="val 64215"/>
              <a:gd name="adj2" fmla="val 547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latin typeface="游ゴシック Medium" panose="020B0500000000000000" pitchFamily="50" charset="-128"/>
                <a:ea typeface="游ゴシック Medium" panose="020B0500000000000000" pitchFamily="50" charset="-128"/>
              </a:rPr>
              <a:t>EP</a:t>
            </a:r>
            <a:r>
              <a:rPr kumimoji="1" lang="ja-JP" altLang="en-US" sz="1200" dirty="0">
                <a:latin typeface="游ゴシック Medium" panose="020B0500000000000000" pitchFamily="50" charset="-128"/>
                <a:ea typeface="游ゴシック Medium" panose="020B0500000000000000" pitchFamily="50" charset="-128"/>
              </a:rPr>
              <a:t>は一括で連携データを作成できる</a:t>
            </a:r>
          </a:p>
        </p:txBody>
      </p:sp>
      <p:sp>
        <p:nvSpPr>
          <p:cNvPr id="35" name="矢印: 右 34">
            <a:extLst>
              <a:ext uri="{FF2B5EF4-FFF2-40B4-BE49-F238E27FC236}">
                <a16:creationId xmlns:a16="http://schemas.microsoft.com/office/drawing/2014/main" id="{A6982A81-3554-8792-E050-F1521233D8BB}"/>
              </a:ext>
            </a:extLst>
          </p:cNvPr>
          <p:cNvSpPr/>
          <p:nvPr/>
        </p:nvSpPr>
        <p:spPr>
          <a:xfrm>
            <a:off x="1763218" y="4323250"/>
            <a:ext cx="3514998" cy="43327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ja-JP" altLang="en-US" sz="1400" dirty="0">
                <a:latin typeface="游ゴシック Medium" panose="020B0500000000000000" pitchFamily="50" charset="-128"/>
                <a:ea typeface="游ゴシック Medium" panose="020B0500000000000000" pitchFamily="50" charset="-128"/>
              </a:rPr>
              <a:t>受信取込定義管理番号</a:t>
            </a:r>
            <a:r>
              <a:rPr kumimoji="1" lang="ja-JP" altLang="en-US" sz="1400" dirty="0">
                <a:latin typeface="游ゴシック Medium" panose="020B0500000000000000" pitchFamily="50" charset="-128"/>
                <a:ea typeface="游ゴシック Medium" panose="020B0500000000000000" pitchFamily="50" charset="-128"/>
              </a:rPr>
              <a:t> </a:t>
            </a:r>
            <a:r>
              <a:rPr kumimoji="1" lang="en-US" altLang="ja-JP" sz="1400" dirty="0">
                <a:latin typeface="游ゴシック Medium" panose="020B0500000000000000" pitchFamily="50" charset="-128"/>
                <a:ea typeface="游ゴシック Medium" panose="020B0500000000000000" pitchFamily="50" charset="-128"/>
              </a:rPr>
              <a:t>0012078-0</a:t>
            </a:r>
            <a:endParaRPr kumimoji="1" lang="ja-JP" altLang="en-US" sz="1600" dirty="0">
              <a:latin typeface="游ゴシック Medium" panose="020B0500000000000000" pitchFamily="50" charset="-128"/>
              <a:ea typeface="游ゴシック Medium" panose="020B0500000000000000" pitchFamily="50" charset="-128"/>
            </a:endParaRPr>
          </a:p>
        </p:txBody>
      </p:sp>
      <p:sp>
        <p:nvSpPr>
          <p:cNvPr id="37" name="矢印: 右 36">
            <a:extLst>
              <a:ext uri="{FF2B5EF4-FFF2-40B4-BE49-F238E27FC236}">
                <a16:creationId xmlns:a16="http://schemas.microsoft.com/office/drawing/2014/main" id="{ACB6D4AE-C51C-16ED-DE4E-6B37C85B42C6}"/>
              </a:ext>
            </a:extLst>
          </p:cNvPr>
          <p:cNvSpPr/>
          <p:nvPr/>
        </p:nvSpPr>
        <p:spPr>
          <a:xfrm>
            <a:off x="1782659" y="5382011"/>
            <a:ext cx="3476116" cy="46703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ja-JP" altLang="en-US" sz="1400" dirty="0">
                <a:latin typeface="游ゴシック Medium" panose="020B0500000000000000" pitchFamily="50" charset="-128"/>
                <a:ea typeface="游ゴシック Medium" panose="020B0500000000000000" pitchFamily="50" charset="-128"/>
              </a:rPr>
              <a:t>受信取込定義管理番号</a:t>
            </a:r>
            <a:r>
              <a:rPr kumimoji="1" lang="ja-JP" altLang="en-US" sz="1400" dirty="0">
                <a:latin typeface="游ゴシック Medium" panose="020B0500000000000000" pitchFamily="50" charset="-128"/>
                <a:ea typeface="游ゴシック Medium" panose="020B0500000000000000" pitchFamily="50" charset="-128"/>
              </a:rPr>
              <a:t> </a:t>
            </a:r>
            <a:r>
              <a:rPr kumimoji="1" lang="en-US" altLang="ja-JP" sz="1400" dirty="0">
                <a:latin typeface="游ゴシック Medium" panose="020B0500000000000000" pitchFamily="50" charset="-128"/>
                <a:ea typeface="游ゴシック Medium" panose="020B0500000000000000" pitchFamily="50" charset="-128"/>
              </a:rPr>
              <a:t>0011069-1</a:t>
            </a:r>
            <a:endParaRPr kumimoji="1" lang="ja-JP" altLang="en-US" sz="1400" dirty="0">
              <a:latin typeface="游ゴシック Medium" panose="020B0500000000000000" pitchFamily="50" charset="-128"/>
              <a:ea typeface="游ゴシック Medium" panose="020B0500000000000000" pitchFamily="50" charset="-128"/>
            </a:endParaRPr>
          </a:p>
        </p:txBody>
      </p:sp>
      <p:sp>
        <p:nvSpPr>
          <p:cNvPr id="38" name="矢印: 右 37">
            <a:extLst>
              <a:ext uri="{FF2B5EF4-FFF2-40B4-BE49-F238E27FC236}">
                <a16:creationId xmlns:a16="http://schemas.microsoft.com/office/drawing/2014/main" id="{4AD60B2E-E12A-F8A7-DE24-D7D5B1736396}"/>
              </a:ext>
            </a:extLst>
          </p:cNvPr>
          <p:cNvSpPr/>
          <p:nvPr/>
        </p:nvSpPr>
        <p:spPr>
          <a:xfrm>
            <a:off x="1782659" y="6160487"/>
            <a:ext cx="3476116" cy="46703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sz="1400" dirty="0">
                <a:latin typeface="游ゴシック Medium" panose="020B0500000000000000" pitchFamily="50" charset="-128"/>
                <a:ea typeface="游ゴシック Medium" panose="020B0500000000000000" pitchFamily="50" charset="-128"/>
              </a:rPr>
              <a:t>受信取込定義管理番号 </a:t>
            </a:r>
            <a:r>
              <a:rPr kumimoji="1" lang="en-US" altLang="ja-JP" sz="1400" dirty="0">
                <a:latin typeface="游ゴシック Medium" panose="020B0500000000000000" pitchFamily="50" charset="-128"/>
                <a:ea typeface="游ゴシック Medium" panose="020B0500000000000000" pitchFamily="50" charset="-128"/>
              </a:rPr>
              <a:t>0010304-0</a:t>
            </a:r>
            <a:endParaRPr kumimoji="1" lang="ja-JP" altLang="en-US" sz="1400" dirty="0">
              <a:latin typeface="游ゴシック Medium" panose="020B0500000000000000" pitchFamily="50" charset="-128"/>
              <a:ea typeface="游ゴシック Medium" panose="020B0500000000000000" pitchFamily="50" charset="-128"/>
            </a:endParaRPr>
          </a:p>
        </p:txBody>
      </p:sp>
      <p:sp>
        <p:nvSpPr>
          <p:cNvPr id="39" name="正方形/長方形 38">
            <a:extLst>
              <a:ext uri="{FF2B5EF4-FFF2-40B4-BE49-F238E27FC236}">
                <a16:creationId xmlns:a16="http://schemas.microsoft.com/office/drawing/2014/main" id="{8CB2F823-C029-A3E8-16C5-37457210D1C6}"/>
              </a:ext>
            </a:extLst>
          </p:cNvPr>
          <p:cNvSpPr/>
          <p:nvPr/>
        </p:nvSpPr>
        <p:spPr>
          <a:xfrm>
            <a:off x="495874" y="3590861"/>
            <a:ext cx="8776139" cy="307777"/>
          </a:xfrm>
          <a:prstGeom prst="rect">
            <a:avLst/>
          </a:prstGeom>
        </p:spPr>
        <p:txBody>
          <a:bodyPr wrap="square">
            <a:spAutoFit/>
          </a:bodyPr>
          <a:lstStyle/>
          <a:p>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はそれぞれの未連携データを調べて定義番号を確認してから定義番号ごとに取り込みを行っている。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40" name="正方形/長方形 39">
            <a:extLst>
              <a:ext uri="{FF2B5EF4-FFF2-40B4-BE49-F238E27FC236}">
                <a16:creationId xmlns:a16="http://schemas.microsoft.com/office/drawing/2014/main" id="{36682481-1B39-7186-B3AC-2868FDAF053E}"/>
              </a:ext>
            </a:extLst>
          </p:cNvPr>
          <p:cNvSpPr/>
          <p:nvPr/>
        </p:nvSpPr>
        <p:spPr>
          <a:xfrm>
            <a:off x="388607" y="868249"/>
            <a:ext cx="9076286" cy="307777"/>
          </a:xfrm>
          <a:prstGeom prst="rect">
            <a:avLst/>
          </a:prstGeom>
        </p:spPr>
        <p:txBody>
          <a:bodyPr wrap="square">
            <a:spAutoFit/>
          </a:bodyPr>
          <a:lstStyle/>
          <a:p>
            <a:r>
              <a:rPr lang="ja-JP" altLang="en-US" sz="1400" dirty="0">
                <a:latin typeface="游ゴシック Medium" panose="020B0500000000000000" pitchFamily="50" charset="-128"/>
                <a:ea typeface="游ゴシック Medium" panose="020B0500000000000000" pitchFamily="50" charset="-128"/>
              </a:rPr>
              <a:t>イーパックから連携データが作られる際には一括</a:t>
            </a:r>
            <a:r>
              <a:rPr lang="en-US" altLang="ja-JP" sz="1400" dirty="0">
                <a:latin typeface="游ゴシック Medium" panose="020B0500000000000000" pitchFamily="50" charset="-128"/>
                <a:ea typeface="游ゴシック Medium" panose="020B0500000000000000" pitchFamily="50" charset="-128"/>
              </a:rPr>
              <a:t>(</a:t>
            </a:r>
            <a:r>
              <a:rPr lang="ja-JP" altLang="en-US" sz="1400" dirty="0">
                <a:latin typeface="游ゴシック Medium" panose="020B0500000000000000" pitchFamily="50" charset="-128"/>
                <a:ea typeface="游ゴシック Medium" panose="020B0500000000000000" pitchFamily="50" charset="-128"/>
              </a:rPr>
              <a:t>或いはある程度まとまった範囲</a:t>
            </a:r>
            <a:r>
              <a:rPr lang="en-US" altLang="ja-JP" sz="1400" dirty="0">
                <a:latin typeface="游ゴシック Medium" panose="020B0500000000000000" pitchFamily="50" charset="-128"/>
                <a:ea typeface="游ゴシック Medium" panose="020B0500000000000000" pitchFamily="50" charset="-128"/>
              </a:rPr>
              <a:t>)</a:t>
            </a:r>
            <a:r>
              <a:rPr lang="ja-JP" altLang="en-US" sz="1400" dirty="0">
                <a:latin typeface="游ゴシック Medium" panose="020B0500000000000000" pitchFamily="50" charset="-128"/>
                <a:ea typeface="游ゴシック Medium" panose="020B0500000000000000" pitchFamily="50" charset="-128"/>
              </a:rPr>
              <a:t>で連携データが作られる。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44" name="矢印: 右 43">
            <a:extLst>
              <a:ext uri="{FF2B5EF4-FFF2-40B4-BE49-F238E27FC236}">
                <a16:creationId xmlns:a16="http://schemas.microsoft.com/office/drawing/2014/main" id="{37B48EBC-575D-63FB-CB23-350DB2A6F85B}"/>
              </a:ext>
            </a:extLst>
          </p:cNvPr>
          <p:cNvSpPr/>
          <p:nvPr/>
        </p:nvSpPr>
        <p:spPr>
          <a:xfrm flipH="1">
            <a:off x="6728351" y="1892725"/>
            <a:ext cx="3296793" cy="995260"/>
          </a:xfrm>
          <a:prstGeom prst="rightArrow">
            <a:avLst>
              <a:gd name="adj1" fmla="val 57940"/>
              <a:gd name="adj2" fmla="val 44991"/>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sz="1200" dirty="0">
                <a:latin typeface="游ゴシック Medium" panose="020B0500000000000000" pitchFamily="50" charset="-128"/>
                <a:ea typeface="游ゴシック Medium" panose="020B0500000000000000" pitchFamily="50" charset="-128"/>
              </a:rPr>
              <a:t>未連携データがあるか確認</a:t>
            </a:r>
            <a:endParaRPr kumimoji="1" lang="en-US" altLang="ja-JP" sz="1200" dirty="0">
              <a:latin typeface="游ゴシック Medium" panose="020B0500000000000000" pitchFamily="50" charset="-128"/>
              <a:ea typeface="游ゴシック Medium" panose="020B0500000000000000" pitchFamily="50" charset="-128"/>
            </a:endParaRPr>
          </a:p>
          <a:p>
            <a:pPr algn="ctr"/>
            <a:r>
              <a:rPr lang="ja-JP" altLang="en-US" sz="1200" dirty="0">
                <a:latin typeface="游ゴシック Medium" panose="020B0500000000000000" pitchFamily="50" charset="-128"/>
                <a:ea typeface="游ゴシック Medium" panose="020B0500000000000000" pitchFamily="50" charset="-128"/>
              </a:rPr>
              <a:t>またはイーパックから連絡を受ける</a:t>
            </a:r>
            <a:endParaRPr kumimoji="1" lang="ja-JP" altLang="en-US" sz="1200" dirty="0">
              <a:latin typeface="游ゴシック Medium" panose="020B0500000000000000" pitchFamily="50" charset="-128"/>
              <a:ea typeface="游ゴシック Medium" panose="020B0500000000000000" pitchFamily="50" charset="-128"/>
            </a:endParaRPr>
          </a:p>
        </p:txBody>
      </p:sp>
      <p:pic>
        <p:nvPicPr>
          <p:cNvPr id="66" name="グラフィックス 65" descr="コンピューター 単色塗りつぶし">
            <a:extLst>
              <a:ext uri="{FF2B5EF4-FFF2-40B4-BE49-F238E27FC236}">
                <a16:creationId xmlns:a16="http://schemas.microsoft.com/office/drawing/2014/main" id="{50C7CC42-BAD4-5194-A024-77100495F7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5370" y="5187796"/>
            <a:ext cx="914400" cy="914400"/>
          </a:xfrm>
          <a:prstGeom prst="rect">
            <a:avLst/>
          </a:prstGeom>
        </p:spPr>
      </p:pic>
      <p:sp>
        <p:nvSpPr>
          <p:cNvPr id="67" name="テキスト ボックス 66">
            <a:extLst>
              <a:ext uri="{FF2B5EF4-FFF2-40B4-BE49-F238E27FC236}">
                <a16:creationId xmlns:a16="http://schemas.microsoft.com/office/drawing/2014/main" id="{D3DFB098-34B3-3622-3576-C732CADB575B}"/>
              </a:ext>
            </a:extLst>
          </p:cNvPr>
          <p:cNvSpPr txBox="1"/>
          <p:nvPr/>
        </p:nvSpPr>
        <p:spPr>
          <a:xfrm>
            <a:off x="10429765" y="1295943"/>
            <a:ext cx="683633" cy="369332"/>
          </a:xfrm>
          <a:prstGeom prst="rect">
            <a:avLst/>
          </a:prstGeom>
          <a:noFill/>
        </p:spPr>
        <p:txBody>
          <a:bodyPr wrap="square" rtlCol="0">
            <a:spAutoFit/>
          </a:bodyPr>
          <a:lstStyle/>
          <a:p>
            <a:pPr algn="ctr"/>
            <a:r>
              <a:rPr kumimoji="1" lang="ja-JP" altLang="en-US" dirty="0">
                <a:latin typeface="游ゴシック Medium" panose="020B0500000000000000" pitchFamily="50" charset="-128"/>
                <a:ea typeface="游ゴシック Medium" panose="020B0500000000000000" pitchFamily="50" charset="-128"/>
              </a:rPr>
              <a:t>ＬＷ</a:t>
            </a:r>
          </a:p>
        </p:txBody>
      </p:sp>
      <p:sp>
        <p:nvSpPr>
          <p:cNvPr id="68" name="四角形: 角を丸くする 67">
            <a:extLst>
              <a:ext uri="{FF2B5EF4-FFF2-40B4-BE49-F238E27FC236}">
                <a16:creationId xmlns:a16="http://schemas.microsoft.com/office/drawing/2014/main" id="{584263B5-174B-8043-BD3A-FAFB0F6B0844}"/>
              </a:ext>
            </a:extLst>
          </p:cNvPr>
          <p:cNvSpPr/>
          <p:nvPr/>
        </p:nvSpPr>
        <p:spPr>
          <a:xfrm>
            <a:off x="5479728" y="4401623"/>
            <a:ext cx="802058" cy="24039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100" b="1" dirty="0">
                <a:solidFill>
                  <a:srgbClr val="FF0000"/>
                </a:solidFill>
                <a:latin typeface="游ゴシック Medium" panose="020B0500000000000000" pitchFamily="50" charset="-128"/>
                <a:ea typeface="游ゴシック Medium" panose="020B0500000000000000" pitchFamily="50" charset="-128"/>
              </a:rPr>
              <a:t>連携取込</a:t>
            </a:r>
          </a:p>
        </p:txBody>
      </p:sp>
      <p:sp>
        <p:nvSpPr>
          <p:cNvPr id="69" name="四角形: 角を丸くする 68">
            <a:extLst>
              <a:ext uri="{FF2B5EF4-FFF2-40B4-BE49-F238E27FC236}">
                <a16:creationId xmlns:a16="http://schemas.microsoft.com/office/drawing/2014/main" id="{309F607F-1C23-F67C-8B79-E8B6211A0CD4}"/>
              </a:ext>
            </a:extLst>
          </p:cNvPr>
          <p:cNvSpPr/>
          <p:nvPr/>
        </p:nvSpPr>
        <p:spPr>
          <a:xfrm>
            <a:off x="5489224" y="5516753"/>
            <a:ext cx="802058" cy="24039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ja-JP" altLang="en-US" sz="1100" b="1" dirty="0">
                <a:solidFill>
                  <a:srgbClr val="FF0000"/>
                </a:solidFill>
                <a:latin typeface="游ゴシック Medium" panose="020B0500000000000000" pitchFamily="50" charset="-128"/>
                <a:ea typeface="游ゴシック Medium" panose="020B0500000000000000" pitchFamily="50" charset="-128"/>
              </a:rPr>
              <a:t>連携取込</a:t>
            </a:r>
          </a:p>
        </p:txBody>
      </p:sp>
      <p:sp>
        <p:nvSpPr>
          <p:cNvPr id="70" name="四角形: 角を丸くする 69">
            <a:extLst>
              <a:ext uri="{FF2B5EF4-FFF2-40B4-BE49-F238E27FC236}">
                <a16:creationId xmlns:a16="http://schemas.microsoft.com/office/drawing/2014/main" id="{B7FB62ED-E57A-7CEA-6455-1EDB5A1619B7}"/>
              </a:ext>
            </a:extLst>
          </p:cNvPr>
          <p:cNvSpPr/>
          <p:nvPr/>
        </p:nvSpPr>
        <p:spPr>
          <a:xfrm>
            <a:off x="5472466" y="6273802"/>
            <a:ext cx="802058" cy="24039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ja-JP" altLang="en-US" sz="1100" b="1" dirty="0">
                <a:solidFill>
                  <a:srgbClr val="FF0000"/>
                </a:solidFill>
                <a:latin typeface="游ゴシック Medium" panose="020B0500000000000000" pitchFamily="50" charset="-128"/>
                <a:ea typeface="游ゴシック Medium" panose="020B0500000000000000" pitchFamily="50" charset="-128"/>
              </a:rPr>
              <a:t>連携取込</a:t>
            </a:r>
          </a:p>
        </p:txBody>
      </p:sp>
      <p:grpSp>
        <p:nvGrpSpPr>
          <p:cNvPr id="71" name="グループ化 70">
            <a:extLst>
              <a:ext uri="{FF2B5EF4-FFF2-40B4-BE49-F238E27FC236}">
                <a16:creationId xmlns:a16="http://schemas.microsoft.com/office/drawing/2014/main" id="{31E518C4-B0D3-A078-D456-C5E1FBC7EF4B}"/>
              </a:ext>
            </a:extLst>
          </p:cNvPr>
          <p:cNvGrpSpPr/>
          <p:nvPr/>
        </p:nvGrpSpPr>
        <p:grpSpPr>
          <a:xfrm>
            <a:off x="885523" y="4385559"/>
            <a:ext cx="714427" cy="731003"/>
            <a:chOff x="5195560" y="1772584"/>
            <a:chExt cx="900438" cy="1053480"/>
          </a:xfrm>
        </p:grpSpPr>
        <p:pic>
          <p:nvPicPr>
            <p:cNvPr id="72" name="グラフィックス 71" descr="データベース 単色塗りつぶし">
              <a:extLst>
                <a:ext uri="{FF2B5EF4-FFF2-40B4-BE49-F238E27FC236}">
                  <a16:creationId xmlns:a16="http://schemas.microsoft.com/office/drawing/2014/main" id="{123BD9A7-4BF9-B342-4D43-D7814D87D80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43617" y="1772584"/>
              <a:ext cx="802058" cy="802058"/>
            </a:xfrm>
            <a:prstGeom prst="rect">
              <a:avLst/>
            </a:prstGeom>
          </p:spPr>
        </p:pic>
        <p:sp>
          <p:nvSpPr>
            <p:cNvPr id="73" name="四角形: 角を丸くする 72">
              <a:extLst>
                <a:ext uri="{FF2B5EF4-FFF2-40B4-BE49-F238E27FC236}">
                  <a16:creationId xmlns:a16="http://schemas.microsoft.com/office/drawing/2014/main" id="{482D3DDA-04DB-6CAD-8059-BE45306D7ABA}"/>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コープ</a:t>
              </a:r>
            </a:p>
          </p:txBody>
        </p:sp>
      </p:grpSp>
      <p:grpSp>
        <p:nvGrpSpPr>
          <p:cNvPr id="74" name="グループ化 73">
            <a:extLst>
              <a:ext uri="{FF2B5EF4-FFF2-40B4-BE49-F238E27FC236}">
                <a16:creationId xmlns:a16="http://schemas.microsoft.com/office/drawing/2014/main" id="{C320C062-29BE-E63F-455C-52D070FF5C45}"/>
              </a:ext>
            </a:extLst>
          </p:cNvPr>
          <p:cNvGrpSpPr/>
          <p:nvPr/>
        </p:nvGrpSpPr>
        <p:grpSpPr>
          <a:xfrm>
            <a:off x="885523" y="5211965"/>
            <a:ext cx="714427" cy="672324"/>
            <a:chOff x="5195560" y="1772584"/>
            <a:chExt cx="900438" cy="1053480"/>
          </a:xfrm>
        </p:grpSpPr>
        <p:pic>
          <p:nvPicPr>
            <p:cNvPr id="75" name="グラフィックス 74" descr="データベース 単色塗りつぶし">
              <a:extLst>
                <a:ext uri="{FF2B5EF4-FFF2-40B4-BE49-F238E27FC236}">
                  <a16:creationId xmlns:a16="http://schemas.microsoft.com/office/drawing/2014/main" id="{12308BBE-B411-1850-D296-7F6A430B09B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43617" y="1772584"/>
              <a:ext cx="802058" cy="802058"/>
            </a:xfrm>
            <a:prstGeom prst="rect">
              <a:avLst/>
            </a:prstGeom>
          </p:spPr>
        </p:pic>
        <p:sp>
          <p:nvSpPr>
            <p:cNvPr id="76" name="四角形: 角を丸くする 75">
              <a:extLst>
                <a:ext uri="{FF2B5EF4-FFF2-40B4-BE49-F238E27FC236}">
                  <a16:creationId xmlns:a16="http://schemas.microsoft.com/office/drawing/2014/main" id="{9E555556-16A0-7B24-A71D-12F6C042A039}"/>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ダイイチ</a:t>
              </a:r>
            </a:p>
          </p:txBody>
        </p:sp>
      </p:grpSp>
      <p:grpSp>
        <p:nvGrpSpPr>
          <p:cNvPr id="77" name="グループ化 76">
            <a:extLst>
              <a:ext uri="{FF2B5EF4-FFF2-40B4-BE49-F238E27FC236}">
                <a16:creationId xmlns:a16="http://schemas.microsoft.com/office/drawing/2014/main" id="{16FFBB98-4F8E-4F40-4CBB-349A23E2E8C4}"/>
              </a:ext>
            </a:extLst>
          </p:cNvPr>
          <p:cNvGrpSpPr/>
          <p:nvPr/>
        </p:nvGrpSpPr>
        <p:grpSpPr>
          <a:xfrm>
            <a:off x="4883944" y="2481778"/>
            <a:ext cx="802058" cy="863862"/>
            <a:chOff x="5195560" y="1772584"/>
            <a:chExt cx="900438" cy="1053480"/>
          </a:xfrm>
        </p:grpSpPr>
        <p:pic>
          <p:nvPicPr>
            <p:cNvPr id="78" name="グラフィックス 77" descr="データベース 単色塗りつぶし">
              <a:extLst>
                <a:ext uri="{FF2B5EF4-FFF2-40B4-BE49-F238E27FC236}">
                  <a16:creationId xmlns:a16="http://schemas.microsoft.com/office/drawing/2014/main" id="{94FB8894-0EDB-D83B-12E7-C6E9394220C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43617" y="1772584"/>
              <a:ext cx="802058" cy="802058"/>
            </a:xfrm>
            <a:prstGeom prst="rect">
              <a:avLst/>
            </a:prstGeom>
          </p:spPr>
        </p:pic>
        <p:sp>
          <p:nvSpPr>
            <p:cNvPr id="79" name="四角形: 角を丸くする 78">
              <a:extLst>
                <a:ext uri="{FF2B5EF4-FFF2-40B4-BE49-F238E27FC236}">
                  <a16:creationId xmlns:a16="http://schemas.microsoft.com/office/drawing/2014/main" id="{80B2E31D-BF68-C76A-EBAA-71333E9331AC}"/>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ラッキー</a:t>
              </a:r>
            </a:p>
          </p:txBody>
        </p:sp>
      </p:grpSp>
      <p:sp>
        <p:nvSpPr>
          <p:cNvPr id="80" name="矢印: 右 79">
            <a:extLst>
              <a:ext uri="{FF2B5EF4-FFF2-40B4-BE49-F238E27FC236}">
                <a16:creationId xmlns:a16="http://schemas.microsoft.com/office/drawing/2014/main" id="{93BB90A6-99E3-03E5-B1B5-3403397A51E2}"/>
              </a:ext>
            </a:extLst>
          </p:cNvPr>
          <p:cNvSpPr/>
          <p:nvPr/>
        </p:nvSpPr>
        <p:spPr>
          <a:xfrm>
            <a:off x="1763218" y="4787485"/>
            <a:ext cx="3514998" cy="443099"/>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ja-JP" altLang="en-US" sz="1400" dirty="0">
                <a:latin typeface="游ゴシック Medium" panose="020B0500000000000000" pitchFamily="50" charset="-128"/>
                <a:ea typeface="游ゴシック Medium" panose="020B0500000000000000" pitchFamily="50" charset="-128"/>
              </a:rPr>
              <a:t>受信取込定義管理番号</a:t>
            </a:r>
            <a:r>
              <a:rPr kumimoji="1" lang="ja-JP" altLang="en-US" sz="1400" dirty="0">
                <a:latin typeface="游ゴシック Medium" panose="020B0500000000000000" pitchFamily="50" charset="-128"/>
                <a:ea typeface="游ゴシック Medium" panose="020B0500000000000000" pitchFamily="50" charset="-128"/>
              </a:rPr>
              <a:t> </a:t>
            </a:r>
            <a:r>
              <a:rPr kumimoji="1" lang="en-US" altLang="ja-JP" sz="1400" dirty="0">
                <a:latin typeface="游ゴシック Medium" panose="020B0500000000000000" pitchFamily="50" charset="-128"/>
                <a:ea typeface="游ゴシック Medium" panose="020B0500000000000000" pitchFamily="50" charset="-128"/>
              </a:rPr>
              <a:t>0012078-1</a:t>
            </a:r>
            <a:endParaRPr kumimoji="1" lang="ja-JP" altLang="en-US" sz="1400" dirty="0">
              <a:latin typeface="游ゴシック Medium" panose="020B0500000000000000" pitchFamily="50" charset="-128"/>
              <a:ea typeface="游ゴシック Medium" panose="020B0500000000000000" pitchFamily="50" charset="-128"/>
            </a:endParaRPr>
          </a:p>
        </p:txBody>
      </p:sp>
      <p:sp>
        <p:nvSpPr>
          <p:cNvPr id="81" name="四角形: 角を丸くする 80">
            <a:extLst>
              <a:ext uri="{FF2B5EF4-FFF2-40B4-BE49-F238E27FC236}">
                <a16:creationId xmlns:a16="http://schemas.microsoft.com/office/drawing/2014/main" id="{94DA2107-0D43-0DC1-F7D9-49DCC2EBD36B}"/>
              </a:ext>
            </a:extLst>
          </p:cNvPr>
          <p:cNvSpPr/>
          <p:nvPr/>
        </p:nvSpPr>
        <p:spPr>
          <a:xfrm>
            <a:off x="5489224" y="4920700"/>
            <a:ext cx="802058" cy="24039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ja-JP" altLang="en-US" sz="1100" b="1" dirty="0">
                <a:solidFill>
                  <a:srgbClr val="FF0000"/>
                </a:solidFill>
                <a:latin typeface="游ゴシック Medium" panose="020B0500000000000000" pitchFamily="50" charset="-128"/>
                <a:ea typeface="游ゴシック Medium" panose="020B0500000000000000" pitchFamily="50" charset="-128"/>
              </a:rPr>
              <a:t>連携取込</a:t>
            </a:r>
          </a:p>
        </p:txBody>
      </p:sp>
      <p:pic>
        <p:nvPicPr>
          <p:cNvPr id="83" name="グラフィックス 82" descr="データベース 単色塗りつぶし">
            <a:extLst>
              <a:ext uri="{FF2B5EF4-FFF2-40B4-BE49-F238E27FC236}">
                <a16:creationId xmlns:a16="http://schemas.microsoft.com/office/drawing/2014/main" id="{E5E7B434-F6F9-60C3-E5F8-E38088586E1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96866" y="5148460"/>
            <a:ext cx="714427" cy="657694"/>
          </a:xfrm>
          <a:prstGeom prst="rect">
            <a:avLst/>
          </a:prstGeom>
        </p:spPr>
      </p:pic>
      <p:sp>
        <p:nvSpPr>
          <p:cNvPr id="84" name="四角形: 角を丸くする 83">
            <a:extLst>
              <a:ext uri="{FF2B5EF4-FFF2-40B4-BE49-F238E27FC236}">
                <a16:creationId xmlns:a16="http://schemas.microsoft.com/office/drawing/2014/main" id="{3C9C93B7-8991-0D8F-671D-11687634E6F6}"/>
              </a:ext>
            </a:extLst>
          </p:cNvPr>
          <p:cNvSpPr/>
          <p:nvPr/>
        </p:nvSpPr>
        <p:spPr>
          <a:xfrm>
            <a:off x="10239611" y="5830239"/>
            <a:ext cx="1228938" cy="285777"/>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rgbClr val="FF0000"/>
                </a:solidFill>
                <a:latin typeface="游ゴシック Medium" panose="020B0500000000000000" pitchFamily="50" charset="-128"/>
                <a:ea typeface="游ゴシック Medium" panose="020B0500000000000000" pitchFamily="50" charset="-128"/>
              </a:rPr>
              <a:t>予定受注データ</a:t>
            </a:r>
          </a:p>
        </p:txBody>
      </p:sp>
      <p:sp>
        <p:nvSpPr>
          <p:cNvPr id="85" name="矢印: 右 84">
            <a:extLst>
              <a:ext uri="{FF2B5EF4-FFF2-40B4-BE49-F238E27FC236}">
                <a16:creationId xmlns:a16="http://schemas.microsoft.com/office/drawing/2014/main" id="{9D709CB1-777D-349F-A1F5-AC62B1C8CBC8}"/>
              </a:ext>
            </a:extLst>
          </p:cNvPr>
          <p:cNvSpPr/>
          <p:nvPr/>
        </p:nvSpPr>
        <p:spPr>
          <a:xfrm>
            <a:off x="7713028" y="5139322"/>
            <a:ext cx="2696313" cy="99526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sz="1200" dirty="0">
                <a:latin typeface="游ゴシック Medium" panose="020B0500000000000000" pitchFamily="50" charset="-128"/>
                <a:ea typeface="游ゴシック Medium" panose="020B0500000000000000" pitchFamily="50" charset="-128"/>
              </a:rPr>
              <a:t>取込が完了すると</a:t>
            </a:r>
            <a:endParaRPr kumimoji="1" lang="en-US" altLang="ja-JP" sz="1200" dirty="0">
              <a:latin typeface="游ゴシック Medium" panose="020B0500000000000000" pitchFamily="50" charset="-128"/>
              <a:ea typeface="游ゴシック Medium" panose="020B0500000000000000" pitchFamily="50" charset="-128"/>
            </a:endParaRPr>
          </a:p>
          <a:p>
            <a:pPr algn="ctr"/>
            <a:r>
              <a:rPr lang="ja-JP" altLang="en-US" sz="1200" dirty="0">
                <a:latin typeface="游ゴシック Medium" panose="020B0500000000000000" pitchFamily="50" charset="-128"/>
                <a:ea typeface="游ゴシック Medium" panose="020B0500000000000000" pitchFamily="50" charset="-128"/>
              </a:rPr>
              <a:t>ＬＷの受注予定データとなる</a:t>
            </a:r>
            <a:endParaRPr lang="en-US" altLang="ja-JP" sz="1200" dirty="0">
              <a:latin typeface="游ゴシック Medium" panose="020B0500000000000000" pitchFamily="50" charset="-128"/>
              <a:ea typeface="游ゴシック Medium" panose="020B0500000000000000" pitchFamily="50" charset="-128"/>
            </a:endParaRPr>
          </a:p>
        </p:txBody>
      </p:sp>
      <p:cxnSp>
        <p:nvCxnSpPr>
          <p:cNvPr id="4" name="直線コネクタ 3">
            <a:extLst>
              <a:ext uri="{FF2B5EF4-FFF2-40B4-BE49-F238E27FC236}">
                <a16:creationId xmlns:a16="http://schemas.microsoft.com/office/drawing/2014/main" id="{29FFDE85-2E78-23ED-EE40-E7D78C2F1108}"/>
              </a:ext>
            </a:extLst>
          </p:cNvPr>
          <p:cNvCxnSpPr/>
          <p:nvPr/>
        </p:nvCxnSpPr>
        <p:spPr>
          <a:xfrm>
            <a:off x="439788" y="3520266"/>
            <a:ext cx="11423716" cy="0"/>
          </a:xfrm>
          <a:prstGeom prst="line">
            <a:avLst/>
          </a:prstGeom>
        </p:spPr>
        <p:style>
          <a:lnRef idx="1">
            <a:schemeClr val="dk1"/>
          </a:lnRef>
          <a:fillRef idx="0">
            <a:schemeClr val="dk1"/>
          </a:fillRef>
          <a:effectRef idx="0">
            <a:schemeClr val="dk1"/>
          </a:effectRef>
          <a:fontRef idx="minor">
            <a:schemeClr val="tx1"/>
          </a:fontRef>
        </p:style>
      </p:cxnSp>
      <p:sp>
        <p:nvSpPr>
          <p:cNvPr id="10" name="四角形: 角を丸くする 9">
            <a:extLst>
              <a:ext uri="{FF2B5EF4-FFF2-40B4-BE49-F238E27FC236}">
                <a16:creationId xmlns:a16="http://schemas.microsoft.com/office/drawing/2014/main" id="{9B5C74DD-1ECD-55E9-9F64-BB9DE3F691CA}"/>
              </a:ext>
            </a:extLst>
          </p:cNvPr>
          <p:cNvSpPr/>
          <p:nvPr/>
        </p:nvSpPr>
        <p:spPr>
          <a:xfrm>
            <a:off x="7736028" y="1466340"/>
            <a:ext cx="2537835" cy="304295"/>
          </a:xfrm>
          <a:prstGeom prst="roundRect">
            <a:avLst/>
          </a:prstGeom>
          <a:solidFill>
            <a:schemeClr val="lt1"/>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ja-JP" altLang="en-US" sz="1100" b="1" dirty="0">
                <a:ln w="0"/>
                <a:solidFill>
                  <a:srgbClr val="FF0000"/>
                </a:solidFill>
                <a:effectLst>
                  <a:outerShdw blurRad="38100" dist="19050" dir="2700000" algn="tl" rotWithShape="0">
                    <a:schemeClr val="dk1">
                      <a:alpha val="40000"/>
                    </a:schemeClr>
                  </a:outerShdw>
                </a:effectLst>
                <a:latin typeface="游ゴシック Medium" panose="020B0500000000000000" pitchFamily="50" charset="-128"/>
                <a:ea typeface="游ゴシック Medium" panose="020B0500000000000000" pitchFamily="50" charset="-128"/>
              </a:rPr>
              <a:t>手間になってしまいる作業</a:t>
            </a:r>
            <a:endParaRPr kumimoji="1" lang="ja-JP" altLang="en-US" sz="1100" b="1" dirty="0">
              <a:ln w="0"/>
              <a:solidFill>
                <a:srgbClr val="FF0000"/>
              </a:solidFill>
              <a:effectLst>
                <a:outerShdw blurRad="38100" dist="19050" dir="2700000" algn="tl" rotWithShape="0">
                  <a:schemeClr val="dk1">
                    <a:alpha val="40000"/>
                  </a:schemeClr>
                </a:outerShdw>
              </a:effectLst>
              <a:latin typeface="游ゴシック Medium" panose="020B0500000000000000" pitchFamily="50" charset="-128"/>
              <a:ea typeface="游ゴシック Medium" panose="020B0500000000000000" pitchFamily="50" charset="-128"/>
            </a:endParaRPr>
          </a:p>
        </p:txBody>
      </p:sp>
      <p:sp>
        <p:nvSpPr>
          <p:cNvPr id="28" name="四角形: 角を丸くする 27">
            <a:extLst>
              <a:ext uri="{FF2B5EF4-FFF2-40B4-BE49-F238E27FC236}">
                <a16:creationId xmlns:a16="http://schemas.microsoft.com/office/drawing/2014/main" id="{ABF8137D-15C0-BB3C-B87B-F575E597D45C}"/>
              </a:ext>
            </a:extLst>
          </p:cNvPr>
          <p:cNvSpPr/>
          <p:nvPr/>
        </p:nvSpPr>
        <p:spPr>
          <a:xfrm>
            <a:off x="2080269" y="3960495"/>
            <a:ext cx="2711324" cy="304295"/>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ja-JP" altLang="en-US" sz="1100" b="1" dirty="0">
                <a:ln w="0"/>
                <a:solidFill>
                  <a:srgbClr val="FF0000"/>
                </a:solidFill>
                <a:effectLst>
                  <a:outerShdw blurRad="38100" dist="19050" dir="2700000" algn="tl" rotWithShape="0">
                    <a:schemeClr val="dk1">
                      <a:alpha val="40000"/>
                    </a:schemeClr>
                  </a:outerShdw>
                </a:effectLst>
                <a:latin typeface="游ゴシック Medium" panose="020B0500000000000000" pitchFamily="50" charset="-128"/>
                <a:ea typeface="游ゴシック Medium" panose="020B0500000000000000" pitchFamily="50" charset="-128"/>
              </a:rPr>
              <a:t>手間になってしまいる作業</a:t>
            </a:r>
          </a:p>
        </p:txBody>
      </p:sp>
      <p:pic>
        <p:nvPicPr>
          <p:cNvPr id="32" name="グラフィックス 31" descr="データベース 単色塗りつぶし">
            <a:extLst>
              <a:ext uri="{FF2B5EF4-FFF2-40B4-BE49-F238E27FC236}">
                <a16:creationId xmlns:a16="http://schemas.microsoft.com/office/drawing/2014/main" id="{C5E8D7F6-99E7-CBB4-B411-16F1BDE3B7F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8248" y="1869866"/>
            <a:ext cx="714427" cy="657694"/>
          </a:xfrm>
          <a:prstGeom prst="rect">
            <a:avLst/>
          </a:prstGeom>
        </p:spPr>
      </p:pic>
      <p:sp>
        <p:nvSpPr>
          <p:cNvPr id="33" name="四角形: 角を丸くする 32">
            <a:extLst>
              <a:ext uri="{FF2B5EF4-FFF2-40B4-BE49-F238E27FC236}">
                <a16:creationId xmlns:a16="http://schemas.microsoft.com/office/drawing/2014/main" id="{B12A9FF1-E713-C983-CFB0-FF152B5D6335}"/>
              </a:ext>
            </a:extLst>
          </p:cNvPr>
          <p:cNvSpPr/>
          <p:nvPr/>
        </p:nvSpPr>
        <p:spPr>
          <a:xfrm>
            <a:off x="486726" y="2527560"/>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ja-JP" sz="1100" b="1" dirty="0">
                <a:solidFill>
                  <a:schemeClr val="accent5">
                    <a:lumMod val="75000"/>
                  </a:schemeClr>
                </a:solidFill>
                <a:latin typeface="游ゴシック Medium" panose="020B0500000000000000" pitchFamily="50" charset="-128"/>
                <a:ea typeface="游ゴシック Medium" panose="020B0500000000000000" pitchFamily="50" charset="-128"/>
              </a:rPr>
              <a:t>EPC</a:t>
            </a:r>
            <a:r>
              <a:rPr kumimoji="1"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rPr>
              <a:t>受注データ</a:t>
            </a:r>
          </a:p>
        </p:txBody>
      </p:sp>
      <p:sp>
        <p:nvSpPr>
          <p:cNvPr id="45" name="四角形: 角を丸くする 44">
            <a:extLst>
              <a:ext uri="{FF2B5EF4-FFF2-40B4-BE49-F238E27FC236}">
                <a16:creationId xmlns:a16="http://schemas.microsoft.com/office/drawing/2014/main" id="{3980E62B-8C48-D624-2D51-FB303D8ACB1E}"/>
              </a:ext>
            </a:extLst>
          </p:cNvPr>
          <p:cNvSpPr/>
          <p:nvPr/>
        </p:nvSpPr>
        <p:spPr>
          <a:xfrm>
            <a:off x="2912416" y="1748583"/>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rPr>
              <a:t>連携作成</a:t>
            </a:r>
            <a:endParaRPr kumimoji="1"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endParaRPr>
          </a:p>
        </p:txBody>
      </p:sp>
      <p:pic>
        <p:nvPicPr>
          <p:cNvPr id="47" name="グラフィックス 46" descr="コンピューター 単色塗りつぶし">
            <a:extLst>
              <a:ext uri="{FF2B5EF4-FFF2-40B4-BE49-F238E27FC236}">
                <a16:creationId xmlns:a16="http://schemas.microsoft.com/office/drawing/2014/main" id="{8C12F0C4-0F28-6814-38EA-13D48CB7B7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04811" y="5201616"/>
            <a:ext cx="914400" cy="914400"/>
          </a:xfrm>
          <a:prstGeom prst="rect">
            <a:avLst/>
          </a:prstGeom>
        </p:spPr>
      </p:pic>
    </p:spTree>
    <p:extLst>
      <p:ext uri="{BB962C8B-B14F-4D97-AF65-F5344CB8AC3E}">
        <p14:creationId xmlns:p14="http://schemas.microsoft.com/office/powerpoint/2010/main" val="4059775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9BAA1-9F73-2CA9-AF05-1FFF6FB890E6}"/>
            </a:ext>
          </a:extLst>
        </p:cNvPr>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089985A9-885D-0B80-AB42-C3F99688CF19}"/>
              </a:ext>
            </a:extLst>
          </p:cNvPr>
          <p:cNvGrpSpPr/>
          <p:nvPr/>
        </p:nvGrpSpPr>
        <p:grpSpPr>
          <a:xfrm>
            <a:off x="557718" y="3951463"/>
            <a:ext cx="3211269" cy="2552478"/>
            <a:chOff x="3875332" y="4018346"/>
            <a:chExt cx="3211269" cy="2552478"/>
          </a:xfrm>
        </p:grpSpPr>
        <p:sp>
          <p:nvSpPr>
            <p:cNvPr id="7" name="四角形: 角を丸くする 6">
              <a:extLst>
                <a:ext uri="{FF2B5EF4-FFF2-40B4-BE49-F238E27FC236}">
                  <a16:creationId xmlns:a16="http://schemas.microsoft.com/office/drawing/2014/main" id="{DD1CFB62-C99F-1F37-4EB4-82AB2B5E45B2}"/>
                </a:ext>
              </a:extLst>
            </p:cNvPr>
            <p:cNvSpPr/>
            <p:nvPr/>
          </p:nvSpPr>
          <p:spPr>
            <a:xfrm>
              <a:off x="4459559" y="4228635"/>
              <a:ext cx="2464320" cy="1995478"/>
            </a:xfrm>
            <a:prstGeom prst="roundRect">
              <a:avLst/>
            </a:prstGeom>
            <a:no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latin typeface="游ゴシック Medium" panose="020B0500000000000000" pitchFamily="50" charset="-128"/>
                <a:ea typeface="游ゴシック Medium" panose="020B0500000000000000" pitchFamily="50" charset="-128"/>
              </a:endParaRPr>
            </a:p>
          </p:txBody>
        </p:sp>
        <p:sp>
          <p:nvSpPr>
            <p:cNvPr id="9" name="テキスト ボックス 8">
              <a:extLst>
                <a:ext uri="{FF2B5EF4-FFF2-40B4-BE49-F238E27FC236}">
                  <a16:creationId xmlns:a16="http://schemas.microsoft.com/office/drawing/2014/main" id="{D25F9AFD-849E-39FF-C1F3-E09B803A9387}"/>
                </a:ext>
              </a:extLst>
            </p:cNvPr>
            <p:cNvSpPr txBox="1"/>
            <p:nvPr/>
          </p:nvSpPr>
          <p:spPr>
            <a:xfrm>
              <a:off x="4787822" y="4037322"/>
              <a:ext cx="1900638" cy="276999"/>
            </a:xfrm>
            <a:prstGeom prst="rect">
              <a:avLst/>
            </a:prstGeom>
            <a:solidFill>
              <a:schemeClr val="bg1"/>
            </a:solidFill>
          </p:spPr>
          <p:txBody>
            <a:bodyPr wrap="square" rtlCol="0">
              <a:spAutoFit/>
            </a:bodyPr>
            <a:lstStyle/>
            <a:p>
              <a:pPr algn="ctr"/>
              <a:r>
                <a:rPr kumimoji="1" lang="ja-JP" altLang="en-US" sz="1200" dirty="0">
                  <a:latin typeface="游ゴシック Medium" panose="020B0500000000000000" pitchFamily="50" charset="-128"/>
                  <a:ea typeface="游ゴシック Medium" panose="020B0500000000000000" pitchFamily="50" charset="-128"/>
                </a:rPr>
                <a:t>渋谷</a:t>
              </a:r>
              <a:r>
                <a:rPr kumimoji="1" lang="en-US" altLang="ja-JP" sz="1200" dirty="0">
                  <a:latin typeface="游ゴシック Medium" panose="020B0500000000000000" pitchFamily="50" charset="-128"/>
                  <a:ea typeface="游ゴシック Medium" panose="020B0500000000000000" pitchFamily="50" charset="-128"/>
                </a:rPr>
                <a:t>DC(</a:t>
              </a:r>
              <a:r>
                <a:rPr kumimoji="1" lang="ja-JP" altLang="en-US" sz="1200" dirty="0">
                  <a:latin typeface="游ゴシック Medium" panose="020B0500000000000000" pitchFamily="50" charset="-128"/>
                  <a:ea typeface="游ゴシック Medium" panose="020B0500000000000000" pitchFamily="50" charset="-128"/>
                </a:rPr>
                <a:t>未連携データ）</a:t>
              </a:r>
            </a:p>
          </p:txBody>
        </p:sp>
        <p:grpSp>
          <p:nvGrpSpPr>
            <p:cNvPr id="17" name="グループ化 16">
              <a:extLst>
                <a:ext uri="{FF2B5EF4-FFF2-40B4-BE49-F238E27FC236}">
                  <a16:creationId xmlns:a16="http://schemas.microsoft.com/office/drawing/2014/main" id="{13A21926-82F7-F14A-75D9-AF2604C783C2}"/>
                </a:ext>
              </a:extLst>
            </p:cNvPr>
            <p:cNvGrpSpPr/>
            <p:nvPr/>
          </p:nvGrpSpPr>
          <p:grpSpPr>
            <a:xfrm>
              <a:off x="4862334" y="4393138"/>
              <a:ext cx="802058" cy="863862"/>
              <a:chOff x="5195560" y="1772584"/>
              <a:chExt cx="900438" cy="1053480"/>
            </a:xfrm>
          </p:grpSpPr>
          <p:sp>
            <p:nvSpPr>
              <p:cNvPr id="16" name="四角形: 角を丸くする 15">
                <a:extLst>
                  <a:ext uri="{FF2B5EF4-FFF2-40B4-BE49-F238E27FC236}">
                    <a16:creationId xmlns:a16="http://schemas.microsoft.com/office/drawing/2014/main" id="{AF8FCE77-BCD6-962C-09A0-CAF8E89A7313}"/>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コープ</a:t>
                </a:r>
              </a:p>
            </p:txBody>
          </p:sp>
          <p:pic>
            <p:nvPicPr>
              <p:cNvPr id="12" name="グラフィックス 11" descr="データベース 単色塗りつぶし">
                <a:extLst>
                  <a:ext uri="{FF2B5EF4-FFF2-40B4-BE49-F238E27FC236}">
                    <a16:creationId xmlns:a16="http://schemas.microsoft.com/office/drawing/2014/main" id="{CD8863B4-3E4C-2AEE-61D8-F8F6876F94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43617" y="1772584"/>
                <a:ext cx="802058" cy="802058"/>
              </a:xfrm>
              <a:prstGeom prst="rect">
                <a:avLst/>
              </a:prstGeom>
            </p:spPr>
          </p:pic>
        </p:grpSp>
        <p:grpSp>
          <p:nvGrpSpPr>
            <p:cNvPr id="21" name="グループ化 20">
              <a:extLst>
                <a:ext uri="{FF2B5EF4-FFF2-40B4-BE49-F238E27FC236}">
                  <a16:creationId xmlns:a16="http://schemas.microsoft.com/office/drawing/2014/main" id="{5B4A7490-14EE-A1B1-F17E-ADADCA46B0F3}"/>
                </a:ext>
              </a:extLst>
            </p:cNvPr>
            <p:cNvGrpSpPr/>
            <p:nvPr/>
          </p:nvGrpSpPr>
          <p:grpSpPr>
            <a:xfrm>
              <a:off x="5738141" y="4647666"/>
              <a:ext cx="802058" cy="863862"/>
              <a:chOff x="5195560" y="1772584"/>
              <a:chExt cx="900438" cy="1053480"/>
            </a:xfrm>
          </p:grpSpPr>
          <p:pic>
            <p:nvPicPr>
              <p:cNvPr id="22" name="グラフィックス 21" descr="データベース 単色塗りつぶし">
                <a:extLst>
                  <a:ext uri="{FF2B5EF4-FFF2-40B4-BE49-F238E27FC236}">
                    <a16:creationId xmlns:a16="http://schemas.microsoft.com/office/drawing/2014/main" id="{34D56861-C26D-CFBB-7C3C-0505ECB5C8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43617" y="1772584"/>
                <a:ext cx="802058" cy="802058"/>
              </a:xfrm>
              <a:prstGeom prst="rect">
                <a:avLst/>
              </a:prstGeom>
            </p:spPr>
          </p:pic>
          <p:sp>
            <p:nvSpPr>
              <p:cNvPr id="23" name="四角形: 角を丸くする 22">
                <a:extLst>
                  <a:ext uri="{FF2B5EF4-FFF2-40B4-BE49-F238E27FC236}">
                    <a16:creationId xmlns:a16="http://schemas.microsoft.com/office/drawing/2014/main" id="{640238D9-7F93-E701-9AE5-06BC108C1255}"/>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ダイイチ</a:t>
                </a:r>
              </a:p>
            </p:txBody>
          </p:sp>
        </p:grpSp>
        <p:grpSp>
          <p:nvGrpSpPr>
            <p:cNvPr id="77" name="グループ化 76">
              <a:extLst>
                <a:ext uri="{FF2B5EF4-FFF2-40B4-BE49-F238E27FC236}">
                  <a16:creationId xmlns:a16="http://schemas.microsoft.com/office/drawing/2014/main" id="{230EA30C-D743-A57E-1193-C79B143BB826}"/>
                </a:ext>
              </a:extLst>
            </p:cNvPr>
            <p:cNvGrpSpPr/>
            <p:nvPr/>
          </p:nvGrpSpPr>
          <p:grpSpPr>
            <a:xfrm>
              <a:off x="5053742" y="5283811"/>
              <a:ext cx="802058" cy="863862"/>
              <a:chOff x="5195560" y="1772584"/>
              <a:chExt cx="900438" cy="1053480"/>
            </a:xfrm>
          </p:grpSpPr>
          <p:pic>
            <p:nvPicPr>
              <p:cNvPr id="78" name="グラフィックス 77" descr="データベース 単色塗りつぶし">
                <a:extLst>
                  <a:ext uri="{FF2B5EF4-FFF2-40B4-BE49-F238E27FC236}">
                    <a16:creationId xmlns:a16="http://schemas.microsoft.com/office/drawing/2014/main" id="{0A55F0F6-CBD4-B89C-B811-9C7EF7EE13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43617" y="1772584"/>
                <a:ext cx="802058" cy="802058"/>
              </a:xfrm>
              <a:prstGeom prst="rect">
                <a:avLst/>
              </a:prstGeom>
            </p:spPr>
          </p:pic>
          <p:sp>
            <p:nvSpPr>
              <p:cNvPr id="79" name="四角形: 角を丸くする 78">
                <a:extLst>
                  <a:ext uri="{FF2B5EF4-FFF2-40B4-BE49-F238E27FC236}">
                    <a16:creationId xmlns:a16="http://schemas.microsoft.com/office/drawing/2014/main" id="{8FEF7A70-A468-7EDB-DD3F-B4685B76F5A6}"/>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ラッキー</a:t>
                </a:r>
              </a:p>
            </p:txBody>
          </p:sp>
        </p:grpSp>
        <p:cxnSp>
          <p:nvCxnSpPr>
            <p:cNvPr id="13" name="直線コネクタ 12">
              <a:extLst>
                <a:ext uri="{FF2B5EF4-FFF2-40B4-BE49-F238E27FC236}">
                  <a16:creationId xmlns:a16="http://schemas.microsoft.com/office/drawing/2014/main" id="{1003E3A1-F8D9-A285-02C3-B7B06FC9FCDF}"/>
                </a:ext>
              </a:extLst>
            </p:cNvPr>
            <p:cNvCxnSpPr/>
            <p:nvPr/>
          </p:nvCxnSpPr>
          <p:spPr>
            <a:xfrm>
              <a:off x="3929743" y="4018346"/>
              <a:ext cx="3156858" cy="25309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3F58CA6E-9FE3-92C6-31DA-552C1071C18E}"/>
                </a:ext>
              </a:extLst>
            </p:cNvPr>
            <p:cNvCxnSpPr>
              <a:cxnSpLocks/>
            </p:cNvCxnSpPr>
            <p:nvPr/>
          </p:nvCxnSpPr>
          <p:spPr>
            <a:xfrm flipV="1">
              <a:off x="3875332" y="4039895"/>
              <a:ext cx="3156858" cy="25309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 name="タイトル 1">
            <a:extLst>
              <a:ext uri="{FF2B5EF4-FFF2-40B4-BE49-F238E27FC236}">
                <a16:creationId xmlns:a16="http://schemas.microsoft.com/office/drawing/2014/main" id="{4A07D616-B158-A1CE-28B0-8BA7BA8B1BE2}"/>
              </a:ext>
            </a:extLst>
          </p:cNvPr>
          <p:cNvSpPr>
            <a:spLocks noGrp="1"/>
          </p:cNvSpPr>
          <p:nvPr>
            <p:ph type="title"/>
          </p:nvPr>
        </p:nvSpPr>
        <p:spPr/>
        <p:txBody>
          <a:bodyPr/>
          <a:lstStyle/>
          <a:p>
            <a:r>
              <a:rPr lang="ja-JP" altLang="en-US" dirty="0">
                <a:latin typeface="游ゴシック Medium" panose="020B0500000000000000" pitchFamily="50" charset="-128"/>
                <a:ea typeface="游ゴシック Medium" panose="020B0500000000000000" pitchFamily="50" charset="-128"/>
              </a:rPr>
              <a:t>２．</a:t>
            </a:r>
            <a:r>
              <a:rPr kumimoji="1" lang="ja-JP" altLang="en-US" dirty="0">
                <a:latin typeface="游ゴシック Medium" panose="020B0500000000000000" pitchFamily="50" charset="-128"/>
                <a:ea typeface="游ゴシック Medium" panose="020B0500000000000000" pitchFamily="50" charset="-128"/>
              </a:rPr>
              <a:t>問題点</a:t>
            </a:r>
          </a:p>
        </p:txBody>
      </p:sp>
      <p:sp>
        <p:nvSpPr>
          <p:cNvPr id="5" name="テキスト ボックス 4">
            <a:extLst>
              <a:ext uri="{FF2B5EF4-FFF2-40B4-BE49-F238E27FC236}">
                <a16:creationId xmlns:a16="http://schemas.microsoft.com/office/drawing/2014/main" id="{F8919168-460A-7A00-7380-4A0B63BEAAE9}"/>
              </a:ext>
            </a:extLst>
          </p:cNvPr>
          <p:cNvSpPr txBox="1"/>
          <p:nvPr/>
        </p:nvSpPr>
        <p:spPr>
          <a:xfrm>
            <a:off x="425484" y="2217119"/>
            <a:ext cx="1253400" cy="646331"/>
          </a:xfrm>
          <a:prstGeom prst="rect">
            <a:avLst/>
          </a:prstGeom>
          <a:solidFill>
            <a:schemeClr val="bg1"/>
          </a:solidFill>
        </p:spPr>
        <p:txBody>
          <a:bodyPr wrap="square" rtlCol="0">
            <a:spAutoFit/>
          </a:bodyPr>
          <a:lstStyle/>
          <a:p>
            <a:r>
              <a:rPr kumimoji="1" lang="ja-JP" altLang="en-US" dirty="0">
                <a:latin typeface="游ゴシック Medium" panose="020B0500000000000000" pitchFamily="50" charset="-128"/>
                <a:ea typeface="游ゴシック Medium" panose="020B0500000000000000" pitchFamily="50" charset="-128"/>
              </a:rPr>
              <a:t>イーパック</a:t>
            </a:r>
          </a:p>
        </p:txBody>
      </p:sp>
      <p:pic>
        <p:nvPicPr>
          <p:cNvPr id="14" name="グラフィックス 13" descr="コンピューター 単色塗りつぶし">
            <a:extLst>
              <a:ext uri="{FF2B5EF4-FFF2-40B4-BE49-F238E27FC236}">
                <a16:creationId xmlns:a16="http://schemas.microsoft.com/office/drawing/2014/main" id="{65099A1C-CC54-E127-CADC-3CDD1EB4A9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70545" y="2149472"/>
            <a:ext cx="914400" cy="914400"/>
          </a:xfrm>
          <a:prstGeom prst="rect">
            <a:avLst/>
          </a:prstGeom>
        </p:spPr>
      </p:pic>
      <p:pic>
        <p:nvPicPr>
          <p:cNvPr id="15" name="グラフィックス 14" descr="コンピューター 単色塗りつぶし">
            <a:extLst>
              <a:ext uri="{FF2B5EF4-FFF2-40B4-BE49-F238E27FC236}">
                <a16:creationId xmlns:a16="http://schemas.microsoft.com/office/drawing/2014/main" id="{5E30BE17-8143-7207-F5F0-A18388668B0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35040" y="2025038"/>
            <a:ext cx="914400" cy="914400"/>
          </a:xfrm>
          <a:prstGeom prst="rect">
            <a:avLst/>
          </a:prstGeom>
        </p:spPr>
      </p:pic>
      <p:sp>
        <p:nvSpPr>
          <p:cNvPr id="31" name="矢印: 右 30">
            <a:extLst>
              <a:ext uri="{FF2B5EF4-FFF2-40B4-BE49-F238E27FC236}">
                <a16:creationId xmlns:a16="http://schemas.microsoft.com/office/drawing/2014/main" id="{21C7C0CF-5245-5CD8-4E43-B2F89B70DA50}"/>
              </a:ext>
            </a:extLst>
          </p:cNvPr>
          <p:cNvSpPr/>
          <p:nvPr/>
        </p:nvSpPr>
        <p:spPr>
          <a:xfrm>
            <a:off x="1857431" y="2986414"/>
            <a:ext cx="8202384" cy="712323"/>
          </a:xfrm>
          <a:prstGeom prst="rightArrow">
            <a:avLst>
              <a:gd name="adj1" fmla="val 64215"/>
              <a:gd name="adj2" fmla="val 547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游ゴシック Medium" panose="020B0500000000000000" pitchFamily="50" charset="-128"/>
                <a:ea typeface="游ゴシック Medium" panose="020B0500000000000000" pitchFamily="50" charset="-128"/>
              </a:rPr>
              <a:t>直接</a:t>
            </a:r>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の受注データを生成する場合、さまざまなプログラムの修正が発生する。</a:t>
            </a:r>
            <a:endParaRPr lang="en-US" altLang="ja-JP" sz="1400" dirty="0">
              <a:latin typeface="游ゴシック Medium" panose="020B0500000000000000" pitchFamily="50" charset="-128"/>
              <a:ea typeface="游ゴシック Medium" panose="020B0500000000000000" pitchFamily="50" charset="-128"/>
            </a:endParaRPr>
          </a:p>
        </p:txBody>
      </p:sp>
      <p:pic>
        <p:nvPicPr>
          <p:cNvPr id="32" name="グラフィックス 31" descr="データベース 単色塗りつぶし">
            <a:extLst>
              <a:ext uri="{FF2B5EF4-FFF2-40B4-BE49-F238E27FC236}">
                <a16:creationId xmlns:a16="http://schemas.microsoft.com/office/drawing/2014/main" id="{A54B19A8-DB15-A86D-58E1-BE3FD3B8C2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8493" y="2603521"/>
            <a:ext cx="714427" cy="657694"/>
          </a:xfrm>
          <a:prstGeom prst="rect">
            <a:avLst/>
          </a:prstGeom>
        </p:spPr>
      </p:pic>
      <p:sp>
        <p:nvSpPr>
          <p:cNvPr id="33" name="四角形: 角を丸くする 32">
            <a:extLst>
              <a:ext uri="{FF2B5EF4-FFF2-40B4-BE49-F238E27FC236}">
                <a16:creationId xmlns:a16="http://schemas.microsoft.com/office/drawing/2014/main" id="{EFF80B7E-F5E7-E12D-FFB5-98D2C42CB66F}"/>
              </a:ext>
            </a:extLst>
          </p:cNvPr>
          <p:cNvSpPr/>
          <p:nvPr/>
        </p:nvSpPr>
        <p:spPr>
          <a:xfrm>
            <a:off x="426971" y="3261215"/>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ja-JP" sz="1100" b="1" dirty="0">
                <a:solidFill>
                  <a:schemeClr val="accent5">
                    <a:lumMod val="75000"/>
                  </a:schemeClr>
                </a:solidFill>
                <a:latin typeface="游ゴシック Medium" panose="020B0500000000000000" pitchFamily="50" charset="-128"/>
                <a:ea typeface="游ゴシック Medium" panose="020B0500000000000000" pitchFamily="50" charset="-128"/>
              </a:rPr>
              <a:t>EPC</a:t>
            </a:r>
            <a:r>
              <a:rPr kumimoji="1"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rPr>
              <a:t>受注データ</a:t>
            </a:r>
          </a:p>
        </p:txBody>
      </p:sp>
      <p:sp>
        <p:nvSpPr>
          <p:cNvPr id="45" name="四角形: 角を丸くする 44">
            <a:extLst>
              <a:ext uri="{FF2B5EF4-FFF2-40B4-BE49-F238E27FC236}">
                <a16:creationId xmlns:a16="http://schemas.microsoft.com/office/drawing/2014/main" id="{6D101AA2-F629-828E-67F4-C9E1F2F80363}"/>
              </a:ext>
            </a:extLst>
          </p:cNvPr>
          <p:cNvSpPr/>
          <p:nvPr/>
        </p:nvSpPr>
        <p:spPr>
          <a:xfrm>
            <a:off x="2852661" y="2482238"/>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rPr>
              <a:t>連携作成</a:t>
            </a:r>
            <a:endParaRPr kumimoji="1"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endParaRPr>
          </a:p>
        </p:txBody>
      </p:sp>
      <p:pic>
        <p:nvPicPr>
          <p:cNvPr id="3" name="グラフィックス 2" descr="データベース 単色塗りつぶし">
            <a:extLst>
              <a:ext uri="{FF2B5EF4-FFF2-40B4-BE49-F238E27FC236}">
                <a16:creationId xmlns:a16="http://schemas.microsoft.com/office/drawing/2014/main" id="{BF74C8A9-191F-3CEA-AFE3-FDB23093209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32341" y="2771306"/>
            <a:ext cx="714427" cy="657694"/>
          </a:xfrm>
          <a:prstGeom prst="rect">
            <a:avLst/>
          </a:prstGeom>
        </p:spPr>
      </p:pic>
      <p:sp>
        <p:nvSpPr>
          <p:cNvPr id="6" name="四角形: 角を丸くする 5">
            <a:extLst>
              <a:ext uri="{FF2B5EF4-FFF2-40B4-BE49-F238E27FC236}">
                <a16:creationId xmlns:a16="http://schemas.microsoft.com/office/drawing/2014/main" id="{899CD2EA-BB37-2D8B-1B4D-BEB3A5ACD776}"/>
              </a:ext>
            </a:extLst>
          </p:cNvPr>
          <p:cNvSpPr/>
          <p:nvPr/>
        </p:nvSpPr>
        <p:spPr>
          <a:xfrm>
            <a:off x="10075086" y="3453085"/>
            <a:ext cx="1228938" cy="285777"/>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rgbClr val="FF0000"/>
                </a:solidFill>
                <a:latin typeface="游ゴシック Medium" panose="020B0500000000000000" pitchFamily="50" charset="-128"/>
                <a:ea typeface="游ゴシック Medium" panose="020B0500000000000000" pitchFamily="50" charset="-128"/>
              </a:rPr>
              <a:t>予定受注データ</a:t>
            </a:r>
          </a:p>
        </p:txBody>
      </p:sp>
      <p:sp>
        <p:nvSpPr>
          <p:cNvPr id="8" name="正方形/長方形 7">
            <a:extLst>
              <a:ext uri="{FF2B5EF4-FFF2-40B4-BE49-F238E27FC236}">
                <a16:creationId xmlns:a16="http://schemas.microsoft.com/office/drawing/2014/main" id="{F82A9A78-EFB3-1433-90F2-F17F681BC98D}"/>
              </a:ext>
            </a:extLst>
          </p:cNvPr>
          <p:cNvSpPr/>
          <p:nvPr/>
        </p:nvSpPr>
        <p:spPr>
          <a:xfrm>
            <a:off x="361767" y="962902"/>
            <a:ext cx="10515600" cy="954107"/>
          </a:xfrm>
          <a:prstGeom prst="rect">
            <a:avLst/>
          </a:prstGeom>
        </p:spPr>
        <p:txBody>
          <a:bodyPr wrap="square">
            <a:spAutoFit/>
          </a:bodyPr>
          <a:lstStyle/>
          <a:p>
            <a:r>
              <a:rPr lang="ja-JP" altLang="en-US" sz="1400" dirty="0">
                <a:latin typeface="游ゴシック Medium" panose="020B0500000000000000" pitchFamily="50" charset="-128"/>
                <a:ea typeface="游ゴシック Medium" panose="020B0500000000000000" pitchFamily="50" charset="-128"/>
              </a:rPr>
              <a:t>もともと、</a:t>
            </a:r>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と</a:t>
            </a:r>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は直接的にデータを参照してはならないという設計思想があり、連携作成から取込を行う流れとなっている。</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から連携処理をした場合、直接</a:t>
            </a:r>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の受注データとなれば、相互的な連絡や、連携の手間は省けるようになるが、</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様々なプログラムの修正を要することとなる。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25" name="吹き出し: 四角形 24">
            <a:extLst>
              <a:ext uri="{FF2B5EF4-FFF2-40B4-BE49-F238E27FC236}">
                <a16:creationId xmlns:a16="http://schemas.microsoft.com/office/drawing/2014/main" id="{5F683C42-A105-B1B5-1895-14E5EB02A2D3}"/>
              </a:ext>
            </a:extLst>
          </p:cNvPr>
          <p:cNvSpPr/>
          <p:nvPr/>
        </p:nvSpPr>
        <p:spPr>
          <a:xfrm>
            <a:off x="4556471" y="3810205"/>
            <a:ext cx="6090809" cy="2856542"/>
          </a:xfrm>
          <a:prstGeom prst="wedgeRectCallout">
            <a:avLst>
              <a:gd name="adj1" fmla="val -65764"/>
              <a:gd name="adj2" fmla="val -19944"/>
            </a:avLst>
          </a:prstGeom>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600" dirty="0">
                <a:latin typeface="游ゴシック Medium" panose="020B0500000000000000" pitchFamily="50" charset="-128"/>
                <a:ea typeface="游ゴシック Medium" panose="020B0500000000000000" pitchFamily="50" charset="-128"/>
              </a:rPr>
              <a:t>連携データ作成を廃止すると</a:t>
            </a:r>
            <a:endParaRPr lang="en-US" altLang="ja-JP" sz="1600" dirty="0">
              <a:latin typeface="游ゴシック Medium" panose="020B0500000000000000" pitchFamily="50" charset="-128"/>
              <a:ea typeface="游ゴシック Medium" panose="020B0500000000000000" pitchFamily="50" charset="-128"/>
            </a:endParaRPr>
          </a:p>
          <a:p>
            <a:pPr algn="ctr"/>
            <a:r>
              <a:rPr lang="ja-JP" altLang="en-US" sz="1600" dirty="0">
                <a:latin typeface="游ゴシック Medium" panose="020B0500000000000000" pitchFamily="50" charset="-128"/>
                <a:ea typeface="游ゴシック Medium" panose="020B0500000000000000" pitchFamily="50" charset="-128"/>
              </a:rPr>
              <a:t>設計思想が変わり、既存のプログラムを刷新する形となる。</a:t>
            </a:r>
            <a:endParaRPr lang="en-US" altLang="ja-JP" sz="1600" dirty="0">
              <a:latin typeface="游ゴシック Medium" panose="020B0500000000000000" pitchFamily="50" charset="-128"/>
              <a:ea typeface="游ゴシック Medium" panose="020B0500000000000000" pitchFamily="50" charset="-128"/>
            </a:endParaRPr>
          </a:p>
          <a:p>
            <a:pPr algn="ctr"/>
            <a:r>
              <a:rPr lang="ja-JP" altLang="en-US" sz="1600" dirty="0">
                <a:latin typeface="游ゴシック Medium" panose="020B0500000000000000" pitchFamily="50" charset="-128"/>
                <a:ea typeface="游ゴシック Medium" panose="020B0500000000000000" pitchFamily="50" charset="-128"/>
              </a:rPr>
              <a:t>結果、様々なプログラムの再設計や修正に迫られる</a:t>
            </a:r>
            <a:endParaRPr lang="en-US" altLang="ja-JP" sz="1600" dirty="0">
              <a:latin typeface="游ゴシック Medium" panose="020B0500000000000000" pitchFamily="50" charset="-128"/>
              <a:ea typeface="游ゴシック Medium" panose="020B0500000000000000" pitchFamily="50" charset="-128"/>
            </a:endParaRPr>
          </a:p>
          <a:p>
            <a:pPr algn="ctr"/>
            <a:endParaRPr lang="en-US" altLang="ja-JP" sz="1600" dirty="0">
              <a:latin typeface="游ゴシック Medium" panose="020B0500000000000000" pitchFamily="50" charset="-128"/>
              <a:ea typeface="游ゴシック Medium" panose="020B0500000000000000" pitchFamily="50" charset="-128"/>
            </a:endParaRPr>
          </a:p>
          <a:p>
            <a:r>
              <a:rPr lang="en-US" altLang="ja-JP" sz="1600" dirty="0">
                <a:latin typeface="游ゴシック Medium" panose="020B0500000000000000" pitchFamily="50" charset="-128"/>
                <a:ea typeface="游ゴシック Medium" panose="020B0500000000000000" pitchFamily="50" charset="-128"/>
              </a:rPr>
              <a:t>	</a:t>
            </a:r>
            <a:r>
              <a:rPr lang="ja-JP" altLang="en-US" sz="1600" dirty="0">
                <a:latin typeface="游ゴシック Medium" panose="020B0500000000000000" pitchFamily="50" charset="-128"/>
                <a:ea typeface="游ゴシック Medium" panose="020B0500000000000000" pitchFamily="50" charset="-128"/>
              </a:rPr>
              <a:t>・ </a:t>
            </a:r>
            <a:r>
              <a:rPr lang="en-US" altLang="ja-JP" sz="1600" dirty="0">
                <a:latin typeface="游ゴシック Medium" panose="020B0500000000000000" pitchFamily="50" charset="-128"/>
                <a:ea typeface="游ゴシック Medium" panose="020B0500000000000000" pitchFamily="50" charset="-128"/>
              </a:rPr>
              <a:t>EPC</a:t>
            </a:r>
            <a:r>
              <a:rPr lang="ja-JP" altLang="en-US" sz="1600" dirty="0">
                <a:latin typeface="游ゴシック Medium" panose="020B0500000000000000" pitchFamily="50" charset="-128"/>
                <a:ea typeface="游ゴシック Medium" panose="020B0500000000000000" pitchFamily="50" charset="-128"/>
              </a:rPr>
              <a:t>連携のプログラムの修正</a:t>
            </a:r>
            <a:endParaRPr lang="en-US" altLang="ja-JP" sz="1600" dirty="0">
              <a:latin typeface="游ゴシック Medium" panose="020B0500000000000000" pitchFamily="50" charset="-128"/>
              <a:ea typeface="游ゴシック Medium" panose="020B0500000000000000" pitchFamily="50" charset="-128"/>
            </a:endParaRPr>
          </a:p>
          <a:p>
            <a:r>
              <a:rPr lang="en-US" altLang="ja-JP" sz="1600" dirty="0">
                <a:latin typeface="游ゴシック Medium" panose="020B0500000000000000" pitchFamily="50" charset="-128"/>
                <a:ea typeface="游ゴシック Medium" panose="020B0500000000000000" pitchFamily="50" charset="-128"/>
              </a:rPr>
              <a:t>	</a:t>
            </a:r>
            <a:r>
              <a:rPr lang="ja-JP" altLang="en-US" sz="1600" dirty="0">
                <a:latin typeface="游ゴシック Medium" panose="020B0500000000000000" pitchFamily="50" charset="-128"/>
                <a:ea typeface="游ゴシック Medium" panose="020B0500000000000000" pitchFamily="50" charset="-128"/>
              </a:rPr>
              <a:t>・ </a:t>
            </a:r>
            <a:r>
              <a:rPr lang="en-US" altLang="ja-JP" sz="1600" dirty="0">
                <a:latin typeface="游ゴシック Medium" panose="020B0500000000000000" pitchFamily="50" charset="-128"/>
                <a:ea typeface="游ゴシック Medium" panose="020B0500000000000000" pitchFamily="50" charset="-128"/>
              </a:rPr>
              <a:t>EPC</a:t>
            </a:r>
            <a:r>
              <a:rPr lang="ja-JP" altLang="en-US" sz="1600" dirty="0">
                <a:latin typeface="游ゴシック Medium" panose="020B0500000000000000" pitchFamily="50" charset="-128"/>
                <a:ea typeface="游ゴシック Medium" panose="020B0500000000000000" pitchFamily="50" charset="-128"/>
              </a:rPr>
              <a:t>個別連携プログラムの修正</a:t>
            </a:r>
            <a:endParaRPr lang="en-US" altLang="ja-JP" sz="1600" dirty="0">
              <a:latin typeface="游ゴシック Medium" panose="020B0500000000000000" pitchFamily="50" charset="-128"/>
              <a:ea typeface="游ゴシック Medium" panose="020B0500000000000000" pitchFamily="50" charset="-128"/>
            </a:endParaRPr>
          </a:p>
          <a:p>
            <a:r>
              <a:rPr lang="en-US" altLang="ja-JP" sz="1600" dirty="0">
                <a:latin typeface="游ゴシック Medium" panose="020B0500000000000000" pitchFamily="50" charset="-128"/>
                <a:ea typeface="游ゴシック Medium" panose="020B0500000000000000" pitchFamily="50" charset="-128"/>
              </a:rPr>
              <a:t>	</a:t>
            </a:r>
            <a:r>
              <a:rPr lang="ja-JP" altLang="en-US" sz="1600" dirty="0">
                <a:latin typeface="游ゴシック Medium" panose="020B0500000000000000" pitchFamily="50" charset="-128"/>
                <a:ea typeface="游ゴシック Medium" panose="020B0500000000000000" pitchFamily="50" charset="-128"/>
              </a:rPr>
              <a:t>・ </a:t>
            </a:r>
            <a:r>
              <a:rPr lang="en-US" altLang="ja-JP" sz="1600" dirty="0">
                <a:latin typeface="游ゴシック Medium" panose="020B0500000000000000" pitchFamily="50" charset="-128"/>
                <a:ea typeface="游ゴシック Medium" panose="020B0500000000000000" pitchFamily="50" charset="-128"/>
              </a:rPr>
              <a:t>LW</a:t>
            </a:r>
            <a:r>
              <a:rPr lang="ja-JP" altLang="en-US" sz="1600" dirty="0">
                <a:latin typeface="游ゴシック Medium" panose="020B0500000000000000" pitchFamily="50" charset="-128"/>
                <a:ea typeface="游ゴシック Medium" panose="020B0500000000000000" pitchFamily="50" charset="-128"/>
              </a:rPr>
              <a:t>のマスタチェック関連の再設計と作成</a:t>
            </a:r>
            <a:endParaRPr lang="en-US" altLang="ja-JP" sz="1600" dirty="0">
              <a:latin typeface="游ゴシック Medium" panose="020B0500000000000000" pitchFamily="50" charset="-128"/>
              <a:ea typeface="游ゴシック Medium" panose="020B0500000000000000" pitchFamily="50" charset="-128"/>
            </a:endParaRPr>
          </a:p>
          <a:p>
            <a:r>
              <a:rPr lang="en-US" altLang="ja-JP" sz="1600" dirty="0">
                <a:latin typeface="游ゴシック Medium" panose="020B0500000000000000" pitchFamily="50" charset="-128"/>
                <a:ea typeface="游ゴシック Medium" panose="020B0500000000000000" pitchFamily="50" charset="-128"/>
              </a:rPr>
              <a:t>	</a:t>
            </a:r>
            <a:r>
              <a:rPr lang="ja-JP" altLang="en-US" sz="1600" dirty="0">
                <a:latin typeface="游ゴシック Medium" panose="020B0500000000000000" pitchFamily="50" charset="-128"/>
                <a:ea typeface="游ゴシック Medium" panose="020B0500000000000000" pitchFamily="50" charset="-128"/>
              </a:rPr>
              <a:t>・ </a:t>
            </a:r>
            <a:r>
              <a:rPr lang="en-US" altLang="ja-JP" sz="1600" dirty="0">
                <a:latin typeface="游ゴシック Medium" panose="020B0500000000000000" pitchFamily="50" charset="-128"/>
                <a:ea typeface="游ゴシック Medium" panose="020B0500000000000000" pitchFamily="50" charset="-128"/>
              </a:rPr>
              <a:t>LW</a:t>
            </a:r>
            <a:r>
              <a:rPr lang="ja-JP" altLang="en-US" sz="1600" dirty="0">
                <a:latin typeface="游ゴシック Medium" panose="020B0500000000000000" pitchFamily="50" charset="-128"/>
                <a:ea typeface="游ゴシック Medium" panose="020B0500000000000000" pitchFamily="50" charset="-128"/>
              </a:rPr>
              <a:t>の取り込みエラーについて再設計と作成</a:t>
            </a:r>
            <a:endParaRPr lang="en-US" altLang="ja-JP" sz="1600" dirty="0">
              <a:latin typeface="游ゴシック Medium" panose="020B0500000000000000" pitchFamily="50" charset="-128"/>
              <a:ea typeface="游ゴシック Medium" panose="020B0500000000000000" pitchFamily="50" charset="-128"/>
            </a:endParaRPr>
          </a:p>
          <a:p>
            <a:r>
              <a:rPr lang="en-US" altLang="ja-JP" sz="1600" dirty="0">
                <a:latin typeface="游ゴシック Medium" panose="020B0500000000000000" pitchFamily="50" charset="-128"/>
                <a:ea typeface="游ゴシック Medium" panose="020B0500000000000000" pitchFamily="50" charset="-128"/>
              </a:rPr>
              <a:t>	</a:t>
            </a:r>
            <a:r>
              <a:rPr lang="ja-JP" altLang="en-US" sz="1600" dirty="0">
                <a:latin typeface="游ゴシック Medium" panose="020B0500000000000000" pitchFamily="50" charset="-128"/>
                <a:ea typeface="游ゴシック Medium" panose="020B0500000000000000" pitchFamily="50" charset="-128"/>
              </a:rPr>
              <a:t>・ 連携重複の防止</a:t>
            </a:r>
            <a:r>
              <a:rPr lang="en-US" altLang="ja-JP" sz="1600" dirty="0">
                <a:latin typeface="游ゴシック Medium" panose="020B0500000000000000" pitchFamily="50" charset="-128"/>
                <a:ea typeface="游ゴシック Medium" panose="020B0500000000000000" pitchFamily="50" charset="-128"/>
              </a:rPr>
              <a:t>/LW</a:t>
            </a:r>
            <a:r>
              <a:rPr lang="ja-JP" altLang="en-US" sz="1600" dirty="0">
                <a:latin typeface="游ゴシック Medium" panose="020B0500000000000000" pitchFamily="50" charset="-128"/>
                <a:ea typeface="游ゴシック Medium" panose="020B0500000000000000" pitchFamily="50" charset="-128"/>
              </a:rPr>
              <a:t>への通知する仕組み</a:t>
            </a:r>
            <a:endParaRPr lang="en-US" altLang="ja-JP" sz="1600" dirty="0">
              <a:latin typeface="游ゴシック Medium" panose="020B0500000000000000" pitchFamily="50" charset="-128"/>
              <a:ea typeface="游ゴシック Medium" panose="020B0500000000000000" pitchFamily="50" charset="-128"/>
            </a:endParaRPr>
          </a:p>
          <a:p>
            <a:pPr algn="ctr"/>
            <a:r>
              <a:rPr lang="en-US" altLang="ja-JP" sz="1600" dirty="0" err="1">
                <a:latin typeface="游ゴシック Medium" panose="020B0500000000000000" pitchFamily="50" charset="-128"/>
                <a:ea typeface="游ゴシック Medium" panose="020B0500000000000000" pitchFamily="50" charset="-128"/>
              </a:rPr>
              <a:t>Etc</a:t>
            </a:r>
            <a:r>
              <a:rPr lang="en-US" altLang="ja-JP" sz="1600" dirty="0">
                <a:latin typeface="游ゴシック Medium" panose="020B0500000000000000" pitchFamily="50" charset="-128"/>
                <a:ea typeface="游ゴシック Medium" panose="020B0500000000000000" pitchFamily="50" charset="-128"/>
              </a:rPr>
              <a:t>…</a:t>
            </a:r>
          </a:p>
        </p:txBody>
      </p:sp>
    </p:spTree>
    <p:extLst>
      <p:ext uri="{BB962C8B-B14F-4D97-AF65-F5344CB8AC3E}">
        <p14:creationId xmlns:p14="http://schemas.microsoft.com/office/powerpoint/2010/main" val="2312467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B19A8-4DC8-0DAA-FFB8-3D427C50AE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0708E3-6559-9691-DF0E-D0EF046EFDCF}"/>
              </a:ext>
            </a:extLst>
          </p:cNvPr>
          <p:cNvSpPr>
            <a:spLocks noGrp="1"/>
          </p:cNvSpPr>
          <p:nvPr>
            <p:ph type="title"/>
          </p:nvPr>
        </p:nvSpPr>
        <p:spPr>
          <a:xfrm>
            <a:off x="0" y="0"/>
            <a:ext cx="10515600" cy="713232"/>
          </a:xfrm>
        </p:spPr>
        <p:txBody>
          <a:bodyPr/>
          <a:lstStyle/>
          <a:p>
            <a:r>
              <a:rPr lang="ja-JP" altLang="en-US" dirty="0">
                <a:latin typeface="游ゴシック Medium" panose="020B0500000000000000" pitchFamily="50" charset="-128"/>
                <a:ea typeface="游ゴシック Medium" panose="020B0500000000000000" pitchFamily="50" charset="-128"/>
              </a:rPr>
              <a:t>３．解決へのアプローチ</a:t>
            </a:r>
            <a:endParaRPr kumimoji="1" lang="ja-JP" altLang="en-US" dirty="0">
              <a:latin typeface="游ゴシック Medium" panose="020B0500000000000000" pitchFamily="50" charset="-128"/>
              <a:ea typeface="游ゴシック Medium" panose="020B0500000000000000" pitchFamily="50" charset="-128"/>
            </a:endParaRPr>
          </a:p>
        </p:txBody>
      </p:sp>
      <p:sp>
        <p:nvSpPr>
          <p:cNvPr id="4" name="四角形: 角を丸くする 3">
            <a:extLst>
              <a:ext uri="{FF2B5EF4-FFF2-40B4-BE49-F238E27FC236}">
                <a16:creationId xmlns:a16="http://schemas.microsoft.com/office/drawing/2014/main" id="{B0233670-BA51-C9FC-5810-F30105854BE3}"/>
              </a:ext>
            </a:extLst>
          </p:cNvPr>
          <p:cNvSpPr/>
          <p:nvPr/>
        </p:nvSpPr>
        <p:spPr>
          <a:xfrm>
            <a:off x="4655044" y="1869986"/>
            <a:ext cx="2464320" cy="1995478"/>
          </a:xfrm>
          <a:prstGeom prst="roundRect">
            <a:avLst/>
          </a:prstGeom>
          <a:no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latin typeface="游ゴシック Medium" panose="020B0500000000000000" pitchFamily="50" charset="-128"/>
              <a:ea typeface="游ゴシック Medium" panose="020B0500000000000000" pitchFamily="50" charset="-128"/>
            </a:endParaRPr>
          </a:p>
        </p:txBody>
      </p:sp>
      <p:sp>
        <p:nvSpPr>
          <p:cNvPr id="5" name="テキスト ボックス 4">
            <a:extLst>
              <a:ext uri="{FF2B5EF4-FFF2-40B4-BE49-F238E27FC236}">
                <a16:creationId xmlns:a16="http://schemas.microsoft.com/office/drawing/2014/main" id="{02645639-9917-B3BD-5D8A-BE7BFC584B1A}"/>
              </a:ext>
            </a:extLst>
          </p:cNvPr>
          <p:cNvSpPr txBox="1"/>
          <p:nvPr/>
        </p:nvSpPr>
        <p:spPr>
          <a:xfrm>
            <a:off x="4892689" y="1716098"/>
            <a:ext cx="1900638" cy="276999"/>
          </a:xfrm>
          <a:prstGeom prst="rect">
            <a:avLst/>
          </a:prstGeom>
          <a:solidFill>
            <a:schemeClr val="bg1"/>
          </a:solidFill>
        </p:spPr>
        <p:txBody>
          <a:bodyPr wrap="square" rtlCol="0">
            <a:spAutoFit/>
          </a:bodyPr>
          <a:lstStyle/>
          <a:p>
            <a:pPr algn="ctr"/>
            <a:r>
              <a:rPr kumimoji="1" lang="ja-JP" altLang="en-US" sz="1200" dirty="0">
                <a:latin typeface="游ゴシック Medium" panose="020B0500000000000000" pitchFamily="50" charset="-128"/>
                <a:ea typeface="游ゴシック Medium" panose="020B0500000000000000" pitchFamily="50" charset="-128"/>
              </a:rPr>
              <a:t>渋谷</a:t>
            </a:r>
            <a:r>
              <a:rPr kumimoji="1" lang="en-US" altLang="ja-JP" sz="1200" dirty="0">
                <a:latin typeface="游ゴシック Medium" panose="020B0500000000000000" pitchFamily="50" charset="-128"/>
                <a:ea typeface="游ゴシック Medium" panose="020B0500000000000000" pitchFamily="50" charset="-128"/>
              </a:rPr>
              <a:t>DC(</a:t>
            </a:r>
            <a:r>
              <a:rPr kumimoji="1" lang="ja-JP" altLang="en-US" sz="1200" dirty="0">
                <a:latin typeface="游ゴシック Medium" panose="020B0500000000000000" pitchFamily="50" charset="-128"/>
                <a:ea typeface="游ゴシック Medium" panose="020B0500000000000000" pitchFamily="50" charset="-128"/>
              </a:rPr>
              <a:t>未連携データ）</a:t>
            </a:r>
          </a:p>
        </p:txBody>
      </p:sp>
      <p:grpSp>
        <p:nvGrpSpPr>
          <p:cNvPr id="7" name="グループ化 6">
            <a:extLst>
              <a:ext uri="{FF2B5EF4-FFF2-40B4-BE49-F238E27FC236}">
                <a16:creationId xmlns:a16="http://schemas.microsoft.com/office/drawing/2014/main" id="{4BF818A3-90D7-B2ED-2CE3-0D04AC10FA87}"/>
              </a:ext>
            </a:extLst>
          </p:cNvPr>
          <p:cNvGrpSpPr/>
          <p:nvPr/>
        </p:nvGrpSpPr>
        <p:grpSpPr>
          <a:xfrm>
            <a:off x="5015183" y="2074542"/>
            <a:ext cx="802058" cy="863862"/>
            <a:chOff x="5195560" y="1772584"/>
            <a:chExt cx="900438" cy="1053480"/>
          </a:xfrm>
        </p:grpSpPr>
        <p:pic>
          <p:nvPicPr>
            <p:cNvPr id="8" name="グラフィックス 7" descr="データベース 単色塗りつぶし">
              <a:extLst>
                <a:ext uri="{FF2B5EF4-FFF2-40B4-BE49-F238E27FC236}">
                  <a16:creationId xmlns:a16="http://schemas.microsoft.com/office/drawing/2014/main" id="{23A0635D-59B0-E25B-8814-7D096C56F7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3617" y="1772584"/>
              <a:ext cx="802058" cy="802058"/>
            </a:xfrm>
            <a:prstGeom prst="rect">
              <a:avLst/>
            </a:prstGeom>
          </p:spPr>
        </p:pic>
        <p:sp>
          <p:nvSpPr>
            <p:cNvPr id="9" name="四角形: 角を丸くする 8">
              <a:extLst>
                <a:ext uri="{FF2B5EF4-FFF2-40B4-BE49-F238E27FC236}">
                  <a16:creationId xmlns:a16="http://schemas.microsoft.com/office/drawing/2014/main" id="{8287FF17-F20F-E93D-59BC-F6D468A519F1}"/>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コープ</a:t>
              </a:r>
            </a:p>
          </p:txBody>
        </p:sp>
      </p:grpSp>
      <p:grpSp>
        <p:nvGrpSpPr>
          <p:cNvPr id="10" name="グループ化 9">
            <a:extLst>
              <a:ext uri="{FF2B5EF4-FFF2-40B4-BE49-F238E27FC236}">
                <a16:creationId xmlns:a16="http://schemas.microsoft.com/office/drawing/2014/main" id="{EE87A121-C211-90D2-A37C-E2BECE139714}"/>
              </a:ext>
            </a:extLst>
          </p:cNvPr>
          <p:cNvGrpSpPr/>
          <p:nvPr/>
        </p:nvGrpSpPr>
        <p:grpSpPr>
          <a:xfrm>
            <a:off x="6096000" y="2204837"/>
            <a:ext cx="802058" cy="863862"/>
            <a:chOff x="5195560" y="1772584"/>
            <a:chExt cx="900438" cy="1053480"/>
          </a:xfrm>
        </p:grpSpPr>
        <p:pic>
          <p:nvPicPr>
            <p:cNvPr id="11" name="グラフィックス 10" descr="データベース 単色塗りつぶし">
              <a:extLst>
                <a:ext uri="{FF2B5EF4-FFF2-40B4-BE49-F238E27FC236}">
                  <a16:creationId xmlns:a16="http://schemas.microsoft.com/office/drawing/2014/main" id="{3C0102C1-08AE-2356-E3E5-569BE9A83F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3617" y="1772584"/>
              <a:ext cx="802058" cy="802058"/>
            </a:xfrm>
            <a:prstGeom prst="rect">
              <a:avLst/>
            </a:prstGeom>
          </p:spPr>
        </p:pic>
        <p:sp>
          <p:nvSpPr>
            <p:cNvPr id="12" name="四角形: 角を丸くする 11">
              <a:extLst>
                <a:ext uri="{FF2B5EF4-FFF2-40B4-BE49-F238E27FC236}">
                  <a16:creationId xmlns:a16="http://schemas.microsoft.com/office/drawing/2014/main" id="{637504BB-C1CE-4193-9E51-D413AB366F1F}"/>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ダイイチ</a:t>
              </a:r>
            </a:p>
          </p:txBody>
        </p:sp>
      </p:grpSp>
      <p:grpSp>
        <p:nvGrpSpPr>
          <p:cNvPr id="14" name="グループ化 13">
            <a:extLst>
              <a:ext uri="{FF2B5EF4-FFF2-40B4-BE49-F238E27FC236}">
                <a16:creationId xmlns:a16="http://schemas.microsoft.com/office/drawing/2014/main" id="{09CB7BBE-42A0-91D1-FE93-65865DF0AD2B}"/>
              </a:ext>
            </a:extLst>
          </p:cNvPr>
          <p:cNvGrpSpPr/>
          <p:nvPr/>
        </p:nvGrpSpPr>
        <p:grpSpPr>
          <a:xfrm>
            <a:off x="5350094" y="2905350"/>
            <a:ext cx="802058" cy="863862"/>
            <a:chOff x="5195560" y="1772584"/>
            <a:chExt cx="900438" cy="1053480"/>
          </a:xfrm>
        </p:grpSpPr>
        <p:pic>
          <p:nvPicPr>
            <p:cNvPr id="15" name="グラフィックス 14" descr="データベース 単色塗りつぶし">
              <a:extLst>
                <a:ext uri="{FF2B5EF4-FFF2-40B4-BE49-F238E27FC236}">
                  <a16:creationId xmlns:a16="http://schemas.microsoft.com/office/drawing/2014/main" id="{5A9217DD-020F-89D8-37F9-037B980B23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43617" y="1772584"/>
              <a:ext cx="802058" cy="802058"/>
            </a:xfrm>
            <a:prstGeom prst="rect">
              <a:avLst/>
            </a:prstGeom>
          </p:spPr>
        </p:pic>
        <p:sp>
          <p:nvSpPr>
            <p:cNvPr id="16" name="四角形: 角を丸くする 15">
              <a:extLst>
                <a:ext uri="{FF2B5EF4-FFF2-40B4-BE49-F238E27FC236}">
                  <a16:creationId xmlns:a16="http://schemas.microsoft.com/office/drawing/2014/main" id="{F1A5801B-8F21-3050-D4BB-223C337869FF}"/>
                </a:ext>
              </a:extLst>
            </p:cNvPr>
            <p:cNvSpPr/>
            <p:nvPr/>
          </p:nvSpPr>
          <p:spPr>
            <a:xfrm>
              <a:off x="5195560" y="2532897"/>
              <a:ext cx="900438"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游ゴシック Medium" panose="020B0500000000000000" pitchFamily="50" charset="-128"/>
                  <a:ea typeface="游ゴシック Medium" panose="020B0500000000000000" pitchFamily="50" charset="-128"/>
                </a:rPr>
                <a:t>ラッキー</a:t>
              </a:r>
            </a:p>
          </p:txBody>
        </p:sp>
      </p:grpSp>
      <p:sp>
        <p:nvSpPr>
          <p:cNvPr id="19" name="テキスト ボックス 18">
            <a:extLst>
              <a:ext uri="{FF2B5EF4-FFF2-40B4-BE49-F238E27FC236}">
                <a16:creationId xmlns:a16="http://schemas.microsoft.com/office/drawing/2014/main" id="{2B603229-8EB6-010C-8DB1-05F86FF9A642}"/>
              </a:ext>
            </a:extLst>
          </p:cNvPr>
          <p:cNvSpPr txBox="1"/>
          <p:nvPr/>
        </p:nvSpPr>
        <p:spPr>
          <a:xfrm>
            <a:off x="10687188" y="2148142"/>
            <a:ext cx="683633" cy="369332"/>
          </a:xfrm>
          <a:prstGeom prst="rect">
            <a:avLst/>
          </a:prstGeom>
          <a:noFill/>
        </p:spPr>
        <p:txBody>
          <a:bodyPr wrap="square" rtlCol="0">
            <a:spAutoFit/>
          </a:bodyPr>
          <a:lstStyle/>
          <a:p>
            <a:pPr algn="ctr"/>
            <a:r>
              <a:rPr kumimoji="1" lang="ja-JP" altLang="en-US" dirty="0">
                <a:latin typeface="游ゴシック Medium" panose="020B0500000000000000" pitchFamily="50" charset="-128"/>
                <a:ea typeface="游ゴシック Medium" panose="020B0500000000000000" pitchFamily="50" charset="-128"/>
              </a:rPr>
              <a:t>ＬＷ</a:t>
            </a:r>
          </a:p>
        </p:txBody>
      </p:sp>
      <p:pic>
        <p:nvPicPr>
          <p:cNvPr id="20" name="グラフィックス 19" descr="コンピューター 単色塗りつぶし">
            <a:extLst>
              <a:ext uri="{FF2B5EF4-FFF2-40B4-BE49-F238E27FC236}">
                <a16:creationId xmlns:a16="http://schemas.microsoft.com/office/drawing/2014/main" id="{6C8BE491-9C48-9417-C04B-09503E6D99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55676" y="2085212"/>
            <a:ext cx="914400" cy="914400"/>
          </a:xfrm>
          <a:prstGeom prst="rect">
            <a:avLst/>
          </a:prstGeom>
        </p:spPr>
      </p:pic>
      <p:pic>
        <p:nvPicPr>
          <p:cNvPr id="21" name="グラフィックス 20" descr="データベース 単色塗りつぶし">
            <a:extLst>
              <a:ext uri="{FF2B5EF4-FFF2-40B4-BE49-F238E27FC236}">
                <a16:creationId xmlns:a16="http://schemas.microsoft.com/office/drawing/2014/main" id="{3BB0D1E0-3076-3A3C-82C3-93B658BE35A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56394" y="2493095"/>
            <a:ext cx="714427" cy="657694"/>
          </a:xfrm>
          <a:prstGeom prst="rect">
            <a:avLst/>
          </a:prstGeom>
        </p:spPr>
      </p:pic>
      <p:sp>
        <p:nvSpPr>
          <p:cNvPr id="22" name="四角形: 角を丸くする 21">
            <a:extLst>
              <a:ext uri="{FF2B5EF4-FFF2-40B4-BE49-F238E27FC236}">
                <a16:creationId xmlns:a16="http://schemas.microsoft.com/office/drawing/2014/main" id="{B5A0A991-F62A-5D19-912F-4A6A4177B51A}"/>
              </a:ext>
            </a:extLst>
          </p:cNvPr>
          <p:cNvSpPr/>
          <p:nvPr/>
        </p:nvSpPr>
        <p:spPr>
          <a:xfrm>
            <a:off x="10464623" y="3179436"/>
            <a:ext cx="1228938" cy="285777"/>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rgbClr val="FF0000"/>
                </a:solidFill>
                <a:latin typeface="游ゴシック Medium" panose="020B0500000000000000" pitchFamily="50" charset="-128"/>
                <a:ea typeface="游ゴシック Medium" panose="020B0500000000000000" pitchFamily="50" charset="-128"/>
              </a:rPr>
              <a:t>予定受注データ</a:t>
            </a:r>
          </a:p>
        </p:txBody>
      </p:sp>
      <p:sp>
        <p:nvSpPr>
          <p:cNvPr id="24" name="テキスト ボックス 23">
            <a:extLst>
              <a:ext uri="{FF2B5EF4-FFF2-40B4-BE49-F238E27FC236}">
                <a16:creationId xmlns:a16="http://schemas.microsoft.com/office/drawing/2014/main" id="{0FB3CDF4-79CC-AB81-7DBF-8C4E5C0C17FC}"/>
              </a:ext>
            </a:extLst>
          </p:cNvPr>
          <p:cNvSpPr txBox="1"/>
          <p:nvPr/>
        </p:nvSpPr>
        <p:spPr>
          <a:xfrm>
            <a:off x="819691" y="2156010"/>
            <a:ext cx="1443529" cy="369332"/>
          </a:xfrm>
          <a:prstGeom prst="rect">
            <a:avLst/>
          </a:prstGeom>
          <a:solidFill>
            <a:schemeClr val="bg1"/>
          </a:solidFill>
        </p:spPr>
        <p:txBody>
          <a:bodyPr wrap="square" rtlCol="0">
            <a:spAutoFit/>
          </a:bodyPr>
          <a:lstStyle/>
          <a:p>
            <a:r>
              <a:rPr kumimoji="1" lang="ja-JP" altLang="en-US" dirty="0">
                <a:latin typeface="游ゴシック Medium" panose="020B0500000000000000" pitchFamily="50" charset="-128"/>
                <a:ea typeface="游ゴシック Medium" panose="020B0500000000000000" pitchFamily="50" charset="-128"/>
              </a:rPr>
              <a:t>イーパック</a:t>
            </a:r>
          </a:p>
        </p:txBody>
      </p:sp>
      <p:pic>
        <p:nvPicPr>
          <p:cNvPr id="25" name="グラフィックス 24" descr="コンピューター 単色塗りつぶし">
            <a:extLst>
              <a:ext uri="{FF2B5EF4-FFF2-40B4-BE49-F238E27FC236}">
                <a16:creationId xmlns:a16="http://schemas.microsoft.com/office/drawing/2014/main" id="{32D6959D-47BF-8762-BDB1-4009A167B49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64753" y="2088363"/>
            <a:ext cx="914400" cy="914400"/>
          </a:xfrm>
          <a:prstGeom prst="rect">
            <a:avLst/>
          </a:prstGeom>
        </p:spPr>
      </p:pic>
      <p:sp>
        <p:nvSpPr>
          <p:cNvPr id="26" name="矢印: 右 25">
            <a:extLst>
              <a:ext uri="{FF2B5EF4-FFF2-40B4-BE49-F238E27FC236}">
                <a16:creationId xmlns:a16="http://schemas.microsoft.com/office/drawing/2014/main" id="{1592DD1E-7BA5-9ECB-7588-AC44670D0150}"/>
              </a:ext>
            </a:extLst>
          </p:cNvPr>
          <p:cNvSpPr/>
          <p:nvPr/>
        </p:nvSpPr>
        <p:spPr>
          <a:xfrm>
            <a:off x="2161254" y="2871259"/>
            <a:ext cx="2313193" cy="815727"/>
          </a:xfrm>
          <a:prstGeom prst="rightArrow">
            <a:avLst>
              <a:gd name="adj1" fmla="val 64215"/>
              <a:gd name="adj2" fmla="val 547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游ゴシック Medium" panose="020B0500000000000000" pitchFamily="50" charset="-128"/>
                <a:ea typeface="游ゴシック Medium" panose="020B0500000000000000" pitchFamily="50" charset="-128"/>
              </a:rPr>
              <a:t>EP</a:t>
            </a:r>
            <a:r>
              <a:rPr kumimoji="1" lang="ja-JP" altLang="en-US" sz="1400" dirty="0">
                <a:latin typeface="游ゴシック Medium" panose="020B0500000000000000" pitchFamily="50" charset="-128"/>
                <a:ea typeface="游ゴシック Medium" panose="020B0500000000000000" pitchFamily="50" charset="-128"/>
              </a:rPr>
              <a:t>は一括で連携データを作成できる</a:t>
            </a:r>
          </a:p>
        </p:txBody>
      </p:sp>
      <p:pic>
        <p:nvPicPr>
          <p:cNvPr id="27" name="グラフィックス 26" descr="データベース 単色塗りつぶし">
            <a:extLst>
              <a:ext uri="{FF2B5EF4-FFF2-40B4-BE49-F238E27FC236}">
                <a16:creationId xmlns:a16="http://schemas.microsoft.com/office/drawing/2014/main" id="{E82BF8FA-CAB0-D0D0-51A2-54E335BB41F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2701" y="2542412"/>
            <a:ext cx="714427" cy="657694"/>
          </a:xfrm>
          <a:prstGeom prst="rect">
            <a:avLst/>
          </a:prstGeom>
        </p:spPr>
      </p:pic>
      <p:sp>
        <p:nvSpPr>
          <p:cNvPr id="28" name="四角形: 角を丸くする 27">
            <a:extLst>
              <a:ext uri="{FF2B5EF4-FFF2-40B4-BE49-F238E27FC236}">
                <a16:creationId xmlns:a16="http://schemas.microsoft.com/office/drawing/2014/main" id="{3F318601-6F2A-30D0-2327-FB0CB1AB610F}"/>
              </a:ext>
            </a:extLst>
          </p:cNvPr>
          <p:cNvSpPr/>
          <p:nvPr/>
        </p:nvSpPr>
        <p:spPr>
          <a:xfrm>
            <a:off x="821179" y="3200106"/>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ja-JP" sz="1100" b="1" dirty="0">
                <a:solidFill>
                  <a:schemeClr val="accent5">
                    <a:lumMod val="75000"/>
                  </a:schemeClr>
                </a:solidFill>
                <a:latin typeface="游ゴシック Medium" panose="020B0500000000000000" pitchFamily="50" charset="-128"/>
                <a:ea typeface="游ゴシック Medium" panose="020B0500000000000000" pitchFamily="50" charset="-128"/>
              </a:rPr>
              <a:t>EPC</a:t>
            </a:r>
            <a:r>
              <a:rPr kumimoji="1"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rPr>
              <a:t>受注データ</a:t>
            </a:r>
          </a:p>
        </p:txBody>
      </p:sp>
      <p:sp>
        <p:nvSpPr>
          <p:cNvPr id="29" name="四角形: 角を丸くする 28">
            <a:extLst>
              <a:ext uri="{FF2B5EF4-FFF2-40B4-BE49-F238E27FC236}">
                <a16:creationId xmlns:a16="http://schemas.microsoft.com/office/drawing/2014/main" id="{59780877-7356-4CB7-BDAA-05A58ACCB3B9}"/>
              </a:ext>
            </a:extLst>
          </p:cNvPr>
          <p:cNvSpPr/>
          <p:nvPr/>
        </p:nvSpPr>
        <p:spPr>
          <a:xfrm>
            <a:off x="3246869" y="2421129"/>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rPr>
              <a:t>連携作成</a:t>
            </a:r>
            <a:endParaRPr kumimoji="1"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endParaRPr>
          </a:p>
        </p:txBody>
      </p:sp>
      <p:sp>
        <p:nvSpPr>
          <p:cNvPr id="31" name="四角形: 角を丸くする 30">
            <a:extLst>
              <a:ext uri="{FF2B5EF4-FFF2-40B4-BE49-F238E27FC236}">
                <a16:creationId xmlns:a16="http://schemas.microsoft.com/office/drawing/2014/main" id="{ECE3B2EB-16CE-EF0B-0770-9F7EE3EC4BDF}"/>
              </a:ext>
            </a:extLst>
          </p:cNvPr>
          <p:cNvSpPr/>
          <p:nvPr/>
        </p:nvSpPr>
        <p:spPr>
          <a:xfrm>
            <a:off x="8606477" y="2350991"/>
            <a:ext cx="1228938" cy="285777"/>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rgbClr val="FF0000"/>
                </a:solidFill>
                <a:latin typeface="游ゴシック Medium" panose="020B0500000000000000" pitchFamily="50" charset="-128"/>
                <a:ea typeface="游ゴシック Medium" panose="020B0500000000000000" pitchFamily="50" charset="-128"/>
              </a:rPr>
              <a:t>連携取込</a:t>
            </a:r>
          </a:p>
        </p:txBody>
      </p:sp>
      <p:sp>
        <p:nvSpPr>
          <p:cNvPr id="32" name="矢印: 右 31">
            <a:extLst>
              <a:ext uri="{FF2B5EF4-FFF2-40B4-BE49-F238E27FC236}">
                <a16:creationId xmlns:a16="http://schemas.microsoft.com/office/drawing/2014/main" id="{7C2AD726-1CD0-19A8-D07D-D5891D812F7A}"/>
              </a:ext>
            </a:extLst>
          </p:cNvPr>
          <p:cNvSpPr/>
          <p:nvPr/>
        </p:nvSpPr>
        <p:spPr>
          <a:xfrm>
            <a:off x="7418589" y="2691823"/>
            <a:ext cx="2863659" cy="99526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ja-JP" altLang="en-US" sz="1400" dirty="0">
                <a:latin typeface="游ゴシック Medium" panose="020B0500000000000000" pitchFamily="50" charset="-128"/>
                <a:ea typeface="游ゴシック Medium" panose="020B0500000000000000" pitchFamily="50" charset="-128"/>
              </a:rPr>
              <a:t>連携残を一括で取込できる機能</a:t>
            </a:r>
            <a:endParaRPr lang="en-US" altLang="ja-JP" sz="1400" dirty="0">
              <a:latin typeface="游ゴシック Medium" panose="020B0500000000000000" pitchFamily="50" charset="-128"/>
              <a:ea typeface="游ゴシック Medium" panose="020B0500000000000000" pitchFamily="50" charset="-128"/>
            </a:endParaRPr>
          </a:p>
        </p:txBody>
      </p:sp>
      <p:sp>
        <p:nvSpPr>
          <p:cNvPr id="33" name="正方形/長方形 32">
            <a:extLst>
              <a:ext uri="{FF2B5EF4-FFF2-40B4-BE49-F238E27FC236}">
                <a16:creationId xmlns:a16="http://schemas.microsoft.com/office/drawing/2014/main" id="{FD1ECD72-575E-60B2-4822-343E7D227F5D}"/>
              </a:ext>
            </a:extLst>
          </p:cNvPr>
          <p:cNvSpPr/>
          <p:nvPr/>
        </p:nvSpPr>
        <p:spPr>
          <a:xfrm>
            <a:off x="455888" y="1008891"/>
            <a:ext cx="8776139" cy="523220"/>
          </a:xfrm>
          <a:prstGeom prst="rect">
            <a:avLst/>
          </a:prstGeom>
        </p:spPr>
        <p:txBody>
          <a:bodyPr wrap="square">
            <a:spAutoFit/>
          </a:bodyPr>
          <a:lstStyle/>
          <a:p>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から連携されたデータを未連携の確認や受信取込定義毎の処理を必要とせず</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一度の処理で未連携データを一括で取り込む機能を作成することで解決する。</a:t>
            </a:r>
            <a:endParaRPr lang="en-US" altLang="ja-JP" sz="1400" dirty="0">
              <a:latin typeface="游ゴシック Medium" panose="020B0500000000000000" pitchFamily="50" charset="-128"/>
              <a:ea typeface="游ゴシック Medium" panose="020B0500000000000000" pitchFamily="50" charset="-128"/>
            </a:endParaRPr>
          </a:p>
        </p:txBody>
      </p:sp>
      <p:pic>
        <p:nvPicPr>
          <p:cNvPr id="43" name="グラフィックス 42" descr="コンピューター 単色塗りつぶし">
            <a:extLst>
              <a:ext uri="{FF2B5EF4-FFF2-40B4-BE49-F238E27FC236}">
                <a16:creationId xmlns:a16="http://schemas.microsoft.com/office/drawing/2014/main" id="{0C248CC6-E228-C7C4-E8D5-0D40021E9F5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03012" y="3867716"/>
            <a:ext cx="914400" cy="914400"/>
          </a:xfrm>
          <a:prstGeom prst="rect">
            <a:avLst/>
          </a:prstGeom>
        </p:spPr>
      </p:pic>
      <p:sp>
        <p:nvSpPr>
          <p:cNvPr id="44" name="四角形: 角を丸くする 43">
            <a:extLst>
              <a:ext uri="{FF2B5EF4-FFF2-40B4-BE49-F238E27FC236}">
                <a16:creationId xmlns:a16="http://schemas.microsoft.com/office/drawing/2014/main" id="{3AB2C376-29D2-D4A1-7659-12C9CD8F1901}"/>
              </a:ext>
            </a:extLst>
          </p:cNvPr>
          <p:cNvSpPr/>
          <p:nvPr/>
        </p:nvSpPr>
        <p:spPr>
          <a:xfrm>
            <a:off x="8159183" y="4782116"/>
            <a:ext cx="802058" cy="24039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1100" b="1" dirty="0">
                <a:solidFill>
                  <a:srgbClr val="FF0000"/>
                </a:solidFill>
                <a:latin typeface="游ゴシック Medium" panose="020B0500000000000000" pitchFamily="50" charset="-128"/>
                <a:ea typeface="游ゴシック Medium" panose="020B0500000000000000" pitchFamily="50" charset="-128"/>
              </a:rPr>
              <a:t>連携取込</a:t>
            </a:r>
          </a:p>
        </p:txBody>
      </p:sp>
      <p:sp>
        <p:nvSpPr>
          <p:cNvPr id="47" name="正方形/長方形 46">
            <a:extLst>
              <a:ext uri="{FF2B5EF4-FFF2-40B4-BE49-F238E27FC236}">
                <a16:creationId xmlns:a16="http://schemas.microsoft.com/office/drawing/2014/main" id="{4907AB2D-6356-E312-2882-33A4C0FDA668}"/>
              </a:ext>
            </a:extLst>
          </p:cNvPr>
          <p:cNvSpPr/>
          <p:nvPr/>
        </p:nvSpPr>
        <p:spPr>
          <a:xfrm>
            <a:off x="4892689" y="5055644"/>
            <a:ext cx="6281057" cy="523220"/>
          </a:xfrm>
          <a:prstGeom prst="rect">
            <a:avLst/>
          </a:prstGeom>
        </p:spPr>
        <p:txBody>
          <a:bodyPr wrap="square">
            <a:spAutoFit/>
          </a:bodyPr>
          <a:lstStyle/>
          <a:p>
            <a:r>
              <a:rPr lang="ja-JP" altLang="en-US" sz="1400" dirty="0">
                <a:latin typeface="游ゴシック Medium" panose="020B0500000000000000" pitchFamily="50" charset="-128"/>
                <a:ea typeface="游ゴシック Medium" panose="020B0500000000000000" pitchFamily="50" charset="-128"/>
              </a:rPr>
              <a:t>従来の受信取込定義毎による個別の受信取込の機能も残す。</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一括ではなく個別の処理、または再チェックなどをしたい場合に利用する。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48" name="矢印: 折線 47">
            <a:extLst>
              <a:ext uri="{FF2B5EF4-FFF2-40B4-BE49-F238E27FC236}">
                <a16:creationId xmlns:a16="http://schemas.microsoft.com/office/drawing/2014/main" id="{CC395D8F-7BCC-C3D5-17C1-AA999C7B114D}"/>
              </a:ext>
            </a:extLst>
          </p:cNvPr>
          <p:cNvSpPr/>
          <p:nvPr/>
        </p:nvSpPr>
        <p:spPr>
          <a:xfrm rot="16200000" flipV="1">
            <a:off x="9363347" y="3393684"/>
            <a:ext cx="1334797" cy="1788833"/>
          </a:xfrm>
          <a:prstGeom prst="bentArrow">
            <a:avLst>
              <a:gd name="adj1" fmla="val 18979"/>
              <a:gd name="adj2" fmla="val 25000"/>
              <a:gd name="adj3" fmla="val 25000"/>
              <a:gd name="adj4" fmla="val 43750"/>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en-US" altLang="ja-JP" dirty="0">
              <a:solidFill>
                <a:schemeClr val="tx1"/>
              </a:solidFill>
              <a:latin typeface="游ゴシック Medium" panose="020B0500000000000000" pitchFamily="50" charset="-128"/>
              <a:ea typeface="游ゴシック Medium" panose="020B0500000000000000" pitchFamily="50" charset="-128"/>
            </a:endParaRPr>
          </a:p>
        </p:txBody>
      </p:sp>
      <p:grpSp>
        <p:nvGrpSpPr>
          <p:cNvPr id="3" name="グループ化 2">
            <a:extLst>
              <a:ext uri="{FF2B5EF4-FFF2-40B4-BE49-F238E27FC236}">
                <a16:creationId xmlns:a16="http://schemas.microsoft.com/office/drawing/2014/main" id="{5251FB9F-47C8-F97C-5E79-0913FB4958EA}"/>
              </a:ext>
            </a:extLst>
          </p:cNvPr>
          <p:cNvGrpSpPr/>
          <p:nvPr/>
        </p:nvGrpSpPr>
        <p:grpSpPr>
          <a:xfrm>
            <a:off x="5392900" y="3993451"/>
            <a:ext cx="2464320" cy="1093244"/>
            <a:chOff x="5648764" y="4169790"/>
            <a:chExt cx="2464320" cy="1093244"/>
          </a:xfrm>
        </p:grpSpPr>
        <p:sp>
          <p:nvSpPr>
            <p:cNvPr id="46" name="矢印: 折線 45">
              <a:extLst>
                <a:ext uri="{FF2B5EF4-FFF2-40B4-BE49-F238E27FC236}">
                  <a16:creationId xmlns:a16="http://schemas.microsoft.com/office/drawing/2014/main" id="{3F8040D3-FD7F-29F6-B55C-B47650115253}"/>
                </a:ext>
              </a:extLst>
            </p:cNvPr>
            <p:cNvSpPr/>
            <p:nvPr/>
          </p:nvSpPr>
          <p:spPr>
            <a:xfrm flipV="1">
              <a:off x="5648764" y="4169790"/>
              <a:ext cx="2464320" cy="1093244"/>
            </a:xfrm>
            <a:prstGeom prst="ben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en-US" altLang="ja-JP" dirty="0">
                <a:solidFill>
                  <a:schemeClr val="tx1"/>
                </a:solidFill>
                <a:latin typeface="游ゴシック Medium" panose="020B0500000000000000" pitchFamily="50" charset="-128"/>
                <a:ea typeface="游ゴシック Medium" panose="020B0500000000000000" pitchFamily="50" charset="-128"/>
              </a:endParaRPr>
            </a:p>
          </p:txBody>
        </p:sp>
        <p:sp>
          <p:nvSpPr>
            <p:cNvPr id="49" name="テキスト ボックス 48">
              <a:extLst>
                <a:ext uri="{FF2B5EF4-FFF2-40B4-BE49-F238E27FC236}">
                  <a16:creationId xmlns:a16="http://schemas.microsoft.com/office/drawing/2014/main" id="{3287B090-38C5-56C4-A71D-4F5D07754D20}"/>
                </a:ext>
              </a:extLst>
            </p:cNvPr>
            <p:cNvSpPr txBox="1"/>
            <p:nvPr/>
          </p:nvSpPr>
          <p:spPr>
            <a:xfrm>
              <a:off x="6222354" y="4854839"/>
              <a:ext cx="1733289" cy="276999"/>
            </a:xfrm>
            <a:prstGeom prst="rect">
              <a:avLst/>
            </a:prstGeom>
            <a:noFill/>
          </p:spPr>
          <p:txBody>
            <a:bodyPr wrap="square" rtlCol="0">
              <a:spAutoFit/>
            </a:bodyPr>
            <a:lstStyle/>
            <a:p>
              <a:r>
                <a:rPr kumimoji="1" lang="ja-JP" altLang="en-US" sz="1200" dirty="0">
                  <a:solidFill>
                    <a:schemeClr val="bg1"/>
                  </a:solidFill>
                  <a:latin typeface="游ゴシック Medium" panose="020B0500000000000000" pitchFamily="50" charset="-128"/>
                  <a:ea typeface="游ゴシック Medium" panose="020B0500000000000000" pitchFamily="50" charset="-128"/>
                </a:rPr>
                <a:t>受信取込定義</a:t>
              </a:r>
            </a:p>
          </p:txBody>
        </p:sp>
      </p:grpSp>
      <p:sp>
        <p:nvSpPr>
          <p:cNvPr id="6" name="矢印: 折線 5">
            <a:extLst>
              <a:ext uri="{FF2B5EF4-FFF2-40B4-BE49-F238E27FC236}">
                <a16:creationId xmlns:a16="http://schemas.microsoft.com/office/drawing/2014/main" id="{9ACFFE96-BDA7-5ED9-882A-A887F3E1750E}"/>
              </a:ext>
            </a:extLst>
          </p:cNvPr>
          <p:cNvSpPr/>
          <p:nvPr/>
        </p:nvSpPr>
        <p:spPr>
          <a:xfrm rot="10800000">
            <a:off x="4150416" y="4246830"/>
            <a:ext cx="7543145" cy="2140847"/>
          </a:xfrm>
          <a:prstGeom prst="bentArrow">
            <a:avLst>
              <a:gd name="adj1" fmla="val 13514"/>
              <a:gd name="adj2" fmla="val 15274"/>
              <a:gd name="adj3" fmla="val 18794"/>
              <a:gd name="adj4" fmla="val 3321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游ゴシック Medium" panose="020B0500000000000000" pitchFamily="50" charset="-128"/>
              <a:ea typeface="游ゴシック Medium" panose="020B0500000000000000" pitchFamily="50" charset="-128"/>
            </a:endParaRPr>
          </a:p>
        </p:txBody>
      </p:sp>
      <p:pic>
        <p:nvPicPr>
          <p:cNvPr id="13" name="グラフィックス 12" descr="コンピューター 単色塗りつぶし">
            <a:extLst>
              <a:ext uri="{FF2B5EF4-FFF2-40B4-BE49-F238E27FC236}">
                <a16:creationId xmlns:a16="http://schemas.microsoft.com/office/drawing/2014/main" id="{DCB300B1-DBFF-ACE7-F5A2-632C8E4B779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70334" y="4445115"/>
            <a:ext cx="1228938" cy="1228938"/>
          </a:xfrm>
          <a:prstGeom prst="rect">
            <a:avLst/>
          </a:prstGeom>
        </p:spPr>
      </p:pic>
      <p:sp>
        <p:nvSpPr>
          <p:cNvPr id="17" name="正方形/長方形 16">
            <a:extLst>
              <a:ext uri="{FF2B5EF4-FFF2-40B4-BE49-F238E27FC236}">
                <a16:creationId xmlns:a16="http://schemas.microsoft.com/office/drawing/2014/main" id="{8D40094C-ECC1-EE4C-9804-FC0224CC1EF0}"/>
              </a:ext>
            </a:extLst>
          </p:cNvPr>
          <p:cNvSpPr/>
          <p:nvPr/>
        </p:nvSpPr>
        <p:spPr>
          <a:xfrm>
            <a:off x="872604" y="5578864"/>
            <a:ext cx="3024397" cy="738664"/>
          </a:xfrm>
          <a:prstGeom prst="rect">
            <a:avLst/>
          </a:prstGeom>
        </p:spPr>
        <p:txBody>
          <a:bodyPr wrap="square">
            <a:spAutoFit/>
          </a:bodyPr>
          <a:lstStyle/>
          <a:p>
            <a:r>
              <a:rPr lang="en-US" altLang="ja-JP" sz="1400" b="1" dirty="0">
                <a:latin typeface="游ゴシック Medium" panose="020B0500000000000000" pitchFamily="50" charset="-128"/>
                <a:ea typeface="游ゴシック Medium" panose="020B0500000000000000" pitchFamily="50" charset="-128"/>
              </a:rPr>
              <a:t>ECP</a:t>
            </a:r>
            <a:r>
              <a:rPr lang="ja-JP" altLang="en-US" sz="1400" b="1" dirty="0">
                <a:latin typeface="游ゴシック Medium" panose="020B0500000000000000" pitchFamily="50" charset="-128"/>
                <a:ea typeface="游ゴシック Medium" panose="020B0500000000000000" pitchFamily="50" charset="-128"/>
              </a:rPr>
              <a:t>からの連携の連絡は廃止</a:t>
            </a:r>
            <a:r>
              <a:rPr lang="ja-JP" altLang="en-US" sz="1400" dirty="0">
                <a:latin typeface="游ゴシック Medium" panose="020B0500000000000000" pitchFamily="50" charset="-128"/>
                <a:ea typeface="游ゴシック Medium" panose="020B0500000000000000" pitchFamily="50" charset="-128"/>
              </a:rPr>
              <a:t>。</a:t>
            </a:r>
            <a:endParaRPr lang="en-US" altLang="ja-JP" sz="1400" dirty="0">
              <a:latin typeface="游ゴシック Medium" panose="020B0500000000000000" pitchFamily="50" charset="-128"/>
              <a:ea typeface="游ゴシック Medium" panose="020B0500000000000000" pitchFamily="50" charset="-128"/>
            </a:endParaRPr>
          </a:p>
          <a:p>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にて連携が完了した場合に通知、または表示をする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18" name="正方形/長方形 17">
            <a:extLst>
              <a:ext uri="{FF2B5EF4-FFF2-40B4-BE49-F238E27FC236}">
                <a16:creationId xmlns:a16="http://schemas.microsoft.com/office/drawing/2014/main" id="{883580D7-3E4C-CD63-57DB-81882038FE5B}"/>
              </a:ext>
            </a:extLst>
          </p:cNvPr>
          <p:cNvSpPr/>
          <p:nvPr/>
        </p:nvSpPr>
        <p:spPr>
          <a:xfrm>
            <a:off x="7522309" y="1670853"/>
            <a:ext cx="4381525" cy="523220"/>
          </a:xfrm>
          <a:prstGeom prst="rect">
            <a:avLst/>
          </a:prstGeom>
        </p:spPr>
        <p:txBody>
          <a:bodyPr wrap="square">
            <a:spAutoFit/>
          </a:bodyPr>
          <a:lstStyle/>
          <a:p>
            <a:r>
              <a:rPr lang="en-US" altLang="ja-JP" sz="1400" b="1" dirty="0">
                <a:latin typeface="游ゴシック Medium" panose="020B0500000000000000" pitchFamily="50" charset="-128"/>
                <a:ea typeface="游ゴシック Medium" panose="020B0500000000000000" pitchFamily="50" charset="-128"/>
              </a:rPr>
              <a:t>ECP</a:t>
            </a:r>
            <a:r>
              <a:rPr lang="ja-JP" altLang="en-US" sz="1400" b="1" dirty="0">
                <a:latin typeface="游ゴシック Medium" panose="020B0500000000000000" pitchFamily="50" charset="-128"/>
                <a:ea typeface="游ゴシック Medium" panose="020B0500000000000000" pitchFamily="50" charset="-128"/>
              </a:rPr>
              <a:t>からの連携の連絡は廃止</a:t>
            </a:r>
            <a:r>
              <a:rPr lang="ja-JP" altLang="en-US" sz="1400" dirty="0">
                <a:latin typeface="游ゴシック Medium" panose="020B0500000000000000" pitchFamily="50" charset="-128"/>
                <a:ea typeface="游ゴシック Medium" panose="020B0500000000000000" pitchFamily="50" charset="-128"/>
              </a:rPr>
              <a:t>し、</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未連携データの有無が常に確認できるようにする。</a:t>
            </a:r>
            <a:endParaRPr lang="en-US" altLang="ja-JP" sz="1400" dirty="0">
              <a:latin typeface="游ゴシック Medium" panose="020B0500000000000000" pitchFamily="50" charset="-128"/>
              <a:ea typeface="游ゴシック Medium" panose="020B0500000000000000" pitchFamily="50" charset="-128"/>
            </a:endParaRPr>
          </a:p>
        </p:txBody>
      </p:sp>
      <p:sp>
        <p:nvSpPr>
          <p:cNvPr id="23" name="四角形: 角を丸くする 22">
            <a:extLst>
              <a:ext uri="{FF2B5EF4-FFF2-40B4-BE49-F238E27FC236}">
                <a16:creationId xmlns:a16="http://schemas.microsoft.com/office/drawing/2014/main" id="{ED6210BB-4DA4-0760-D738-483E349CAC73}"/>
              </a:ext>
            </a:extLst>
          </p:cNvPr>
          <p:cNvSpPr/>
          <p:nvPr/>
        </p:nvSpPr>
        <p:spPr>
          <a:xfrm>
            <a:off x="1848226" y="4740729"/>
            <a:ext cx="666374" cy="457200"/>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kumimoji="1" lang="ja-JP" altLang="en-US" sz="1100" b="1" dirty="0">
                <a:solidFill>
                  <a:schemeClr val="accent5">
                    <a:lumMod val="75000"/>
                  </a:schemeClr>
                </a:solidFill>
                <a:latin typeface="游ゴシック Medium" panose="020B0500000000000000" pitchFamily="50" charset="-128"/>
                <a:ea typeface="游ゴシック Medium" panose="020B0500000000000000" pitchFamily="50" charset="-128"/>
              </a:rPr>
              <a:t>完了！</a:t>
            </a:r>
          </a:p>
        </p:txBody>
      </p:sp>
      <p:sp>
        <p:nvSpPr>
          <p:cNvPr id="30" name="テキスト ボックス 29">
            <a:extLst>
              <a:ext uri="{FF2B5EF4-FFF2-40B4-BE49-F238E27FC236}">
                <a16:creationId xmlns:a16="http://schemas.microsoft.com/office/drawing/2014/main" id="{1FA29F6A-121F-AE92-7EEF-1D135F032CF8}"/>
              </a:ext>
            </a:extLst>
          </p:cNvPr>
          <p:cNvSpPr txBox="1"/>
          <p:nvPr/>
        </p:nvSpPr>
        <p:spPr>
          <a:xfrm>
            <a:off x="6551944" y="5931938"/>
            <a:ext cx="2680083" cy="276999"/>
          </a:xfrm>
          <a:prstGeom prst="rect">
            <a:avLst/>
          </a:prstGeom>
          <a:noFill/>
        </p:spPr>
        <p:txBody>
          <a:bodyPr wrap="square" rtlCol="0">
            <a:spAutoFit/>
          </a:bodyPr>
          <a:lstStyle/>
          <a:p>
            <a:r>
              <a:rPr kumimoji="1" lang="ja-JP" altLang="en-US" sz="1200" dirty="0">
                <a:solidFill>
                  <a:schemeClr val="bg1"/>
                </a:solidFill>
                <a:latin typeface="游ゴシック Medium" panose="020B0500000000000000" pitchFamily="50" charset="-128"/>
                <a:ea typeface="游ゴシック Medium" panose="020B0500000000000000" pitchFamily="50" charset="-128"/>
              </a:rPr>
              <a:t>自動的に取込結果を通知</a:t>
            </a:r>
          </a:p>
        </p:txBody>
      </p:sp>
    </p:spTree>
    <p:extLst>
      <p:ext uri="{BB962C8B-B14F-4D97-AF65-F5344CB8AC3E}">
        <p14:creationId xmlns:p14="http://schemas.microsoft.com/office/powerpoint/2010/main" val="1832450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EE459A-6D90-0ABD-6DD9-6A1FE6BECD61}"/>
              </a:ext>
            </a:extLst>
          </p:cNvPr>
          <p:cNvSpPr>
            <a:spLocks noGrp="1"/>
          </p:cNvSpPr>
          <p:nvPr>
            <p:ph type="title"/>
          </p:nvPr>
        </p:nvSpPr>
        <p:spPr/>
        <p:txBody>
          <a:bodyPr/>
          <a:lstStyle/>
          <a:p>
            <a:r>
              <a:rPr kumimoji="1" lang="ja-JP" altLang="en-US" dirty="0"/>
              <a:t>４</a:t>
            </a:r>
            <a:r>
              <a:rPr lang="ja-JP" altLang="en-US" dirty="0">
                <a:latin typeface="+mj-ea"/>
              </a:rPr>
              <a:t> ．</a:t>
            </a:r>
            <a:r>
              <a:rPr kumimoji="1" lang="ja-JP" altLang="en-US" dirty="0"/>
              <a:t>一括取込機能と</a:t>
            </a:r>
            <a:r>
              <a:rPr lang="ja-JP" altLang="en-US" dirty="0"/>
              <a:t>連携データフォーマット</a:t>
            </a:r>
            <a:r>
              <a:rPr kumimoji="1" lang="ja-JP" altLang="en-US" dirty="0"/>
              <a:t>について</a:t>
            </a:r>
          </a:p>
        </p:txBody>
      </p:sp>
      <p:sp>
        <p:nvSpPr>
          <p:cNvPr id="3" name="正方形/長方形 2">
            <a:extLst>
              <a:ext uri="{FF2B5EF4-FFF2-40B4-BE49-F238E27FC236}">
                <a16:creationId xmlns:a16="http://schemas.microsoft.com/office/drawing/2014/main" id="{CAD24322-AF07-C308-EC16-C42F0DEAAF25}"/>
              </a:ext>
            </a:extLst>
          </p:cNvPr>
          <p:cNvSpPr/>
          <p:nvPr/>
        </p:nvSpPr>
        <p:spPr>
          <a:xfrm>
            <a:off x="357537" y="971620"/>
            <a:ext cx="11713813" cy="5478423"/>
          </a:xfrm>
          <a:prstGeom prst="rect">
            <a:avLst/>
          </a:prstGeom>
        </p:spPr>
        <p:txBody>
          <a:bodyPr wrap="square">
            <a:spAutoFit/>
          </a:bodyPr>
          <a:lstStyle/>
          <a:p>
            <a:r>
              <a:rPr lang="ja-JP" altLang="en-US" sz="1400" dirty="0">
                <a:latin typeface="游ゴシック Medium" panose="020B0500000000000000" pitchFamily="50" charset="-128"/>
                <a:ea typeface="游ゴシック Medium" panose="020B0500000000000000" pitchFamily="50" charset="-128"/>
              </a:rPr>
              <a:t>現状の</a:t>
            </a:r>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からの連携データ作成には手を加えずに、</a:t>
            </a:r>
            <a:r>
              <a:rPr lang="en-US" altLang="ja-JP" sz="1400" dirty="0">
                <a:latin typeface="游ゴシック Medium" panose="020B0500000000000000" pitchFamily="50" charset="-128"/>
                <a:ea typeface="游ゴシック Medium" panose="020B0500000000000000" pitchFamily="50" charset="-128"/>
              </a:rPr>
              <a:t>LW</a:t>
            </a:r>
            <a:r>
              <a:rPr lang="ja-JP" altLang="en-US" sz="1400" dirty="0">
                <a:latin typeface="游ゴシック Medium" panose="020B0500000000000000" pitchFamily="50" charset="-128"/>
                <a:ea typeface="游ゴシック Medium" panose="020B0500000000000000" pitchFamily="50" charset="-128"/>
              </a:rPr>
              <a:t>の連携取込についてのみ個別の機能として作成する。</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また荷主イーパック分のみに対応される機能であり、他の荷主の受注データは引き続き受信取込にて取込を実施する。</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en-US" altLang="ja-JP" sz="1400" dirty="0">
                <a:latin typeface="游ゴシック Medium" panose="020B0500000000000000" pitchFamily="50" charset="-128"/>
                <a:ea typeface="游ゴシック Medium" panose="020B0500000000000000" pitchFamily="50" charset="-128"/>
              </a:rPr>
              <a:t>【</a:t>
            </a:r>
            <a:r>
              <a:rPr lang="ja-JP" altLang="en-US" sz="1400" dirty="0">
                <a:latin typeface="游ゴシック Medium" panose="020B0500000000000000" pitchFamily="50" charset="-128"/>
                <a:ea typeface="游ゴシック Medium" panose="020B0500000000000000" pitchFamily="50" charset="-128"/>
              </a:rPr>
              <a:t>機能</a:t>
            </a:r>
            <a:r>
              <a:rPr lang="en-US" altLang="ja-JP" sz="1400" dirty="0">
                <a:latin typeface="游ゴシック Medium" panose="020B0500000000000000" pitchFamily="50" charset="-128"/>
                <a:ea typeface="游ゴシック Medium" panose="020B0500000000000000" pitchFamily="50" charset="-128"/>
              </a:rPr>
              <a:t>】</a:t>
            </a:r>
          </a:p>
          <a:p>
            <a:r>
              <a:rPr lang="ja-JP" altLang="en-US" sz="1400" dirty="0">
                <a:latin typeface="游ゴシック Medium" panose="020B0500000000000000" pitchFamily="50" charset="-128"/>
                <a:ea typeface="游ゴシック Medium" panose="020B0500000000000000" pitchFamily="50" charset="-128"/>
              </a:rPr>
              <a:t>　　</a:t>
            </a:r>
            <a:r>
              <a:rPr lang="en-US" altLang="ja-JP" sz="1400" dirty="0">
                <a:latin typeface="游ゴシック Medium" panose="020B0500000000000000" pitchFamily="50" charset="-128"/>
                <a:ea typeface="游ゴシック Medium" panose="020B0500000000000000" pitchFamily="50" charset="-128"/>
              </a:rPr>
              <a:t>1.</a:t>
            </a:r>
            <a:r>
              <a:rPr lang="ja-JP" altLang="en-US" sz="1400" dirty="0">
                <a:latin typeface="游ゴシック Medium" panose="020B0500000000000000" pitchFamily="50" charset="-128"/>
                <a:ea typeface="游ゴシック Medium" panose="020B0500000000000000" pitchFamily="50" charset="-128"/>
              </a:rPr>
              <a:t> 受信取込定義に関係なく一括で連携残テーブルを表示する機能。</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　　</a:t>
            </a:r>
            <a:r>
              <a:rPr lang="en-US" altLang="ja-JP" sz="1400" dirty="0">
                <a:latin typeface="游ゴシック Medium" panose="020B0500000000000000" pitchFamily="50" charset="-128"/>
                <a:ea typeface="游ゴシック Medium" panose="020B0500000000000000" pitchFamily="50" charset="-128"/>
              </a:rPr>
              <a:t>2.</a:t>
            </a:r>
            <a:r>
              <a:rPr lang="ja-JP" altLang="en-US" sz="1400" dirty="0">
                <a:latin typeface="游ゴシック Medium" panose="020B0500000000000000" pitchFamily="50" charset="-128"/>
                <a:ea typeface="游ゴシック Medium" panose="020B0500000000000000" pitchFamily="50" charset="-128"/>
              </a:rPr>
              <a:t> 表示された連携残テーブルを選択して取込を実行する機能</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　　</a:t>
            </a:r>
            <a:r>
              <a:rPr lang="en-US" altLang="ja-JP" sz="1400" dirty="0">
                <a:latin typeface="游ゴシック Medium" panose="020B0500000000000000" pitchFamily="50" charset="-128"/>
                <a:ea typeface="游ゴシック Medium" panose="020B0500000000000000" pitchFamily="50" charset="-128"/>
              </a:rPr>
              <a:t>3.</a:t>
            </a:r>
            <a:r>
              <a:rPr lang="ja-JP" altLang="en-US" sz="1400" dirty="0">
                <a:latin typeface="游ゴシック Medium" panose="020B0500000000000000" pitchFamily="50" charset="-128"/>
                <a:ea typeface="游ゴシック Medium" panose="020B0500000000000000" pitchFamily="50" charset="-128"/>
              </a:rPr>
              <a:t> 取込結果の表示とエラーリストを出力する機能。</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　　</a:t>
            </a:r>
            <a:r>
              <a:rPr lang="en-US" altLang="ja-JP" sz="1400" dirty="0">
                <a:latin typeface="游ゴシック Medium" panose="020B0500000000000000" pitchFamily="50" charset="-128"/>
                <a:ea typeface="游ゴシック Medium" panose="020B0500000000000000" pitchFamily="50" charset="-128"/>
              </a:rPr>
              <a:t>4.</a:t>
            </a:r>
            <a:r>
              <a:rPr lang="ja-JP" altLang="en-US" sz="1400" dirty="0">
                <a:latin typeface="游ゴシック Medium" panose="020B0500000000000000" pitchFamily="50" charset="-128"/>
                <a:ea typeface="游ゴシック Medium" panose="020B0500000000000000" pitchFamily="50" charset="-128"/>
              </a:rPr>
              <a:t> 再チェック機能。</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　　</a:t>
            </a:r>
            <a:r>
              <a:rPr lang="en-US" altLang="ja-JP" sz="1400" dirty="0">
                <a:latin typeface="游ゴシック Medium" panose="020B0500000000000000" pitchFamily="50" charset="-128"/>
                <a:ea typeface="游ゴシック Medium" panose="020B0500000000000000" pitchFamily="50" charset="-128"/>
              </a:rPr>
              <a:t>5.</a:t>
            </a:r>
            <a:r>
              <a:rPr lang="ja-JP" altLang="en-US" sz="1400" dirty="0">
                <a:latin typeface="游ゴシック Medium" panose="020B0500000000000000" pitchFamily="50" charset="-128"/>
                <a:ea typeface="游ゴシック Medium" panose="020B0500000000000000" pitchFamily="50" charset="-128"/>
              </a:rPr>
              <a:t> </a:t>
            </a:r>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への連携完了の通知機能。</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　　</a:t>
            </a:r>
            <a:r>
              <a:rPr lang="en-US" altLang="ja-JP" sz="1400" dirty="0">
                <a:latin typeface="游ゴシック Medium" panose="020B0500000000000000" pitchFamily="50" charset="-128"/>
                <a:ea typeface="游ゴシック Medium" panose="020B0500000000000000" pitchFamily="50" charset="-128"/>
              </a:rPr>
              <a:t>※</a:t>
            </a:r>
            <a:r>
              <a:rPr lang="ja-JP" altLang="en-US" sz="1400" dirty="0">
                <a:latin typeface="游ゴシック Medium" panose="020B0500000000000000" pitchFamily="50" charset="-128"/>
                <a:ea typeface="游ゴシック Medium" panose="020B0500000000000000" pitchFamily="50" charset="-128"/>
              </a:rPr>
              <a:t>自動処理は</a:t>
            </a:r>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が任意のタイミングで連携データを作成する観点から、完全自動化は難しい。</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en-US" altLang="ja-JP" sz="1400" dirty="0">
                <a:latin typeface="游ゴシック Medium" panose="020B0500000000000000" pitchFamily="50" charset="-128"/>
                <a:ea typeface="游ゴシック Medium" panose="020B0500000000000000" pitchFamily="50" charset="-128"/>
              </a:rPr>
              <a:t>【</a:t>
            </a:r>
            <a:r>
              <a:rPr lang="ja-JP" altLang="en-US" sz="1400" dirty="0">
                <a:latin typeface="游ゴシック Medium" panose="020B0500000000000000" pitchFamily="50" charset="-128"/>
                <a:ea typeface="游ゴシック Medium" panose="020B0500000000000000" pitchFamily="50" charset="-128"/>
              </a:rPr>
              <a:t>連携ファイルフォーマット</a:t>
            </a:r>
            <a:r>
              <a:rPr lang="en-US" altLang="ja-JP" sz="1400" dirty="0">
                <a:latin typeface="游ゴシック Medium" panose="020B0500000000000000" pitchFamily="50" charset="-128"/>
                <a:ea typeface="游ゴシック Medium" panose="020B0500000000000000" pitchFamily="50" charset="-128"/>
              </a:rPr>
              <a:t>】</a:t>
            </a:r>
          </a:p>
          <a:p>
            <a:r>
              <a:rPr lang="ja-JP" altLang="en-US" sz="1400" dirty="0">
                <a:latin typeface="游ゴシック Medium" panose="020B0500000000000000" pitchFamily="50" charset="-128"/>
                <a:ea typeface="游ゴシック Medium" panose="020B0500000000000000" pitchFamily="50" charset="-128"/>
              </a:rPr>
              <a:t>　　現状、連携データは古い</a:t>
            </a:r>
            <a:r>
              <a:rPr lang="en-US" altLang="ja-JP" sz="1400" dirty="0">
                <a:latin typeface="游ゴシック Medium" panose="020B0500000000000000" pitchFamily="50" charset="-128"/>
                <a:ea typeface="游ゴシック Medium" panose="020B0500000000000000" pitchFamily="50" charset="-128"/>
              </a:rPr>
              <a:t>Access</a:t>
            </a:r>
            <a:r>
              <a:rPr lang="ja-JP" altLang="en-US" sz="1400" dirty="0">
                <a:latin typeface="游ゴシック Medium" panose="020B0500000000000000" pitchFamily="50" charset="-128"/>
                <a:ea typeface="游ゴシック Medium" panose="020B0500000000000000" pitchFamily="50" charset="-128"/>
              </a:rPr>
              <a:t>用ファイル「</a:t>
            </a:r>
            <a:r>
              <a:rPr lang="en-US" altLang="ja-JP" sz="1400" dirty="0">
                <a:latin typeface="游ゴシック Medium" panose="020B0500000000000000" pitchFamily="50" charset="-128"/>
                <a:ea typeface="游ゴシック Medium" panose="020B0500000000000000" pitchFamily="50" charset="-128"/>
              </a:rPr>
              <a:t>.</a:t>
            </a:r>
            <a:r>
              <a:rPr lang="en-US" altLang="ja-JP" sz="1400" dirty="0" err="1">
                <a:latin typeface="游ゴシック Medium" panose="020B0500000000000000" pitchFamily="50" charset="-128"/>
                <a:ea typeface="游ゴシック Medium" panose="020B0500000000000000" pitchFamily="50" charset="-128"/>
              </a:rPr>
              <a:t>mdb</a:t>
            </a:r>
            <a:r>
              <a:rPr lang="ja-JP" altLang="en-US" sz="1400" dirty="0">
                <a:latin typeface="游ゴシック Medium" panose="020B0500000000000000" pitchFamily="50" charset="-128"/>
                <a:ea typeface="游ゴシック Medium" panose="020B0500000000000000" pitchFamily="50" charset="-128"/>
              </a:rPr>
              <a:t>」にてデータのやり取りが行われている。</a:t>
            </a:r>
            <a:endParaRPr lang="en-US" altLang="ja-JP" sz="1400" dirty="0">
              <a:latin typeface="游ゴシック Medium" panose="020B0500000000000000" pitchFamily="50" charset="-128"/>
              <a:ea typeface="游ゴシック Medium" panose="020B0500000000000000" pitchFamily="50" charset="-128"/>
            </a:endParaRPr>
          </a:p>
          <a:p>
            <a:r>
              <a:rPr lang="ja-JP" altLang="en-US" sz="1400" dirty="0">
                <a:latin typeface="游ゴシック Medium" panose="020B0500000000000000" pitchFamily="50" charset="-128"/>
                <a:ea typeface="游ゴシック Medium" panose="020B0500000000000000" pitchFamily="50" charset="-128"/>
              </a:rPr>
              <a:t>　　将来的に「</a:t>
            </a:r>
            <a:r>
              <a:rPr lang="en-US" altLang="ja-JP" sz="1400" dirty="0">
                <a:latin typeface="游ゴシック Medium" panose="020B0500000000000000" pitchFamily="50" charset="-128"/>
                <a:ea typeface="游ゴシック Medium" panose="020B0500000000000000" pitchFamily="50" charset="-128"/>
              </a:rPr>
              <a:t>.</a:t>
            </a:r>
            <a:r>
              <a:rPr lang="en-US" altLang="ja-JP" sz="1400" dirty="0" err="1">
                <a:latin typeface="游ゴシック Medium" panose="020B0500000000000000" pitchFamily="50" charset="-128"/>
                <a:ea typeface="游ゴシック Medium" panose="020B0500000000000000" pitchFamily="50" charset="-128"/>
              </a:rPr>
              <a:t>mdb</a:t>
            </a:r>
            <a:r>
              <a:rPr lang="ja-JP" altLang="en-US" sz="1400" dirty="0">
                <a:latin typeface="游ゴシック Medium" panose="020B0500000000000000" pitchFamily="50" charset="-128"/>
                <a:ea typeface="游ゴシック Medium" panose="020B0500000000000000" pitchFamily="50" charset="-128"/>
              </a:rPr>
              <a:t>」ファイルではなくなる可能性はあるが、今回の改修ではこの部分は修正せずに現行の運用のままとする。</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a:p>
            <a:r>
              <a:rPr lang="en-US" altLang="ja-JP" sz="1400" dirty="0">
                <a:latin typeface="游ゴシック Medium" panose="020B0500000000000000" pitchFamily="50" charset="-128"/>
                <a:ea typeface="游ゴシック Medium" panose="020B0500000000000000" pitchFamily="50" charset="-128"/>
              </a:rPr>
              <a:t>       ※</a:t>
            </a:r>
            <a:r>
              <a:rPr lang="ja-JP" altLang="en-US" sz="1400" dirty="0">
                <a:latin typeface="游ゴシック Medium" panose="020B0500000000000000" pitchFamily="50" charset="-128"/>
                <a:ea typeface="游ゴシック Medium" panose="020B0500000000000000" pitchFamily="50" charset="-128"/>
              </a:rPr>
              <a:t>この部分を回収すると </a:t>
            </a:r>
            <a:r>
              <a:rPr lang="en-US" altLang="ja-JP" sz="1400" dirty="0">
                <a:latin typeface="游ゴシック Medium" panose="020B0500000000000000" pitchFamily="50" charset="-128"/>
                <a:ea typeface="游ゴシック Medium" panose="020B0500000000000000" pitchFamily="50" charset="-128"/>
              </a:rPr>
              <a:t>EPC</a:t>
            </a:r>
            <a:r>
              <a:rPr lang="ja-JP" altLang="en-US" sz="1400" dirty="0">
                <a:latin typeface="游ゴシック Medium" panose="020B0500000000000000" pitchFamily="50" charset="-128"/>
                <a:ea typeface="游ゴシック Medium" panose="020B0500000000000000" pitchFamily="50" charset="-128"/>
              </a:rPr>
              <a:t>の連携作成の修正が必要になる点と、現行の連携取込も修正が必要になり修正範囲が拡大してしまうため。</a:t>
            </a:r>
            <a:endParaRPr lang="en-US" altLang="ja-JP" sz="1400" dirty="0">
              <a:latin typeface="游ゴシック Medium" panose="020B0500000000000000" pitchFamily="50" charset="-128"/>
              <a:ea typeface="游ゴシック Medium" panose="020B0500000000000000" pitchFamily="50" charset="-128"/>
            </a:endParaRPr>
          </a:p>
          <a:p>
            <a:endParaRPr lang="en-US" altLang="ja-JP" sz="1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147247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6F2A16-BBF3-0C78-AAFE-B3C0BC11F39B}"/>
            </a:ext>
          </a:extLst>
        </p:cNvPr>
        <p:cNvGrpSpPr/>
        <p:nvPr/>
      </p:nvGrpSpPr>
      <p:grpSpPr>
        <a:xfrm>
          <a:off x="0" y="0"/>
          <a:ext cx="0" cy="0"/>
          <a:chOff x="0" y="0"/>
          <a:chExt cx="0" cy="0"/>
        </a:xfrm>
      </p:grpSpPr>
      <p:sp>
        <p:nvSpPr>
          <p:cNvPr id="27" name="四角形: 角を丸くする 26">
            <a:extLst>
              <a:ext uri="{FF2B5EF4-FFF2-40B4-BE49-F238E27FC236}">
                <a16:creationId xmlns:a16="http://schemas.microsoft.com/office/drawing/2014/main" id="{55C764C1-6464-BE3D-872D-E86E9FF4570C}"/>
              </a:ext>
            </a:extLst>
          </p:cNvPr>
          <p:cNvSpPr/>
          <p:nvPr/>
        </p:nvSpPr>
        <p:spPr>
          <a:xfrm>
            <a:off x="3674277" y="2198813"/>
            <a:ext cx="2658750" cy="1573088"/>
          </a:xfrm>
          <a:prstGeom prst="roundRect">
            <a:avLst>
              <a:gd name="adj" fmla="val 7425"/>
            </a:avLst>
          </a:prstGeom>
          <a:noFill/>
          <a:ln w="285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6" name="タイトル 5">
            <a:extLst>
              <a:ext uri="{FF2B5EF4-FFF2-40B4-BE49-F238E27FC236}">
                <a16:creationId xmlns:a16="http://schemas.microsoft.com/office/drawing/2014/main" id="{7FB6D4BA-F2E8-ED9A-6241-7EFF9262BDB0}"/>
              </a:ext>
            </a:extLst>
          </p:cNvPr>
          <p:cNvSpPr>
            <a:spLocks noGrp="1"/>
          </p:cNvSpPr>
          <p:nvPr>
            <p:ph type="title"/>
          </p:nvPr>
        </p:nvSpPr>
        <p:spPr/>
        <p:txBody>
          <a:bodyPr/>
          <a:lstStyle/>
          <a:p>
            <a:r>
              <a:rPr lang="ja-JP" altLang="en-US" dirty="0"/>
              <a:t>５</a:t>
            </a:r>
            <a:r>
              <a:rPr lang="ja-JP" altLang="en-US" dirty="0">
                <a:latin typeface="+mj-ea"/>
              </a:rPr>
              <a:t> ．インターフェース</a:t>
            </a:r>
            <a:endParaRPr lang="ja-JP" altLang="en-US" dirty="0"/>
          </a:p>
        </p:txBody>
      </p:sp>
      <p:pic>
        <p:nvPicPr>
          <p:cNvPr id="30" name="グラフィックス 29" descr="データベース 単色塗りつぶし">
            <a:extLst>
              <a:ext uri="{FF2B5EF4-FFF2-40B4-BE49-F238E27FC236}">
                <a16:creationId xmlns:a16="http://schemas.microsoft.com/office/drawing/2014/main" id="{2239C86D-ED24-FC6C-157F-90581C9031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84205" y="1345915"/>
            <a:ext cx="914400" cy="713233"/>
          </a:xfrm>
          <a:prstGeom prst="rect">
            <a:avLst/>
          </a:prstGeom>
        </p:spPr>
      </p:pic>
      <p:pic>
        <p:nvPicPr>
          <p:cNvPr id="32" name="グラフィックス 31" descr="データベース 単色塗りつぶし">
            <a:extLst>
              <a:ext uri="{FF2B5EF4-FFF2-40B4-BE49-F238E27FC236}">
                <a16:creationId xmlns:a16="http://schemas.microsoft.com/office/drawing/2014/main" id="{8314C920-0BF0-E1D7-9E84-A93D2053B3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84205" y="3167247"/>
            <a:ext cx="914400" cy="713233"/>
          </a:xfrm>
          <a:prstGeom prst="rect">
            <a:avLst/>
          </a:prstGeom>
        </p:spPr>
      </p:pic>
      <p:pic>
        <p:nvPicPr>
          <p:cNvPr id="34" name="グラフィックス 33" descr="データベース 単色塗りつぶし">
            <a:extLst>
              <a:ext uri="{FF2B5EF4-FFF2-40B4-BE49-F238E27FC236}">
                <a16:creationId xmlns:a16="http://schemas.microsoft.com/office/drawing/2014/main" id="{C9174004-F0DD-E408-747F-AABB87F4CC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70405" y="2229224"/>
            <a:ext cx="914400" cy="713233"/>
          </a:xfrm>
          <a:prstGeom prst="rect">
            <a:avLst/>
          </a:prstGeom>
        </p:spPr>
      </p:pic>
      <p:sp>
        <p:nvSpPr>
          <p:cNvPr id="57" name="四角形: 角を丸くする 56">
            <a:extLst>
              <a:ext uri="{FF2B5EF4-FFF2-40B4-BE49-F238E27FC236}">
                <a16:creationId xmlns:a16="http://schemas.microsoft.com/office/drawing/2014/main" id="{4C989D19-6B33-46CF-BB52-2AF7D76E7FF0}"/>
              </a:ext>
            </a:extLst>
          </p:cNvPr>
          <p:cNvSpPr/>
          <p:nvPr/>
        </p:nvSpPr>
        <p:spPr>
          <a:xfrm>
            <a:off x="9398605" y="1567414"/>
            <a:ext cx="1398278" cy="279504"/>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sz="1100" b="1" dirty="0">
                <a:solidFill>
                  <a:srgbClr val="FF0000"/>
                </a:solidFill>
                <a:latin typeface="Yu Gothic UI" panose="020B0500000000000000" pitchFamily="50" charset="-128"/>
                <a:ea typeface="Yu Gothic UI" panose="020B0500000000000000" pitchFamily="50" charset="-128"/>
              </a:rPr>
              <a:t>LJ</a:t>
            </a:r>
            <a:r>
              <a:rPr kumimoji="1" lang="ja-JP" altLang="en-US" sz="1100" b="1" dirty="0">
                <a:solidFill>
                  <a:srgbClr val="FF0000"/>
                </a:solidFill>
                <a:latin typeface="Yu Gothic UI" panose="020B0500000000000000" pitchFamily="50" charset="-128"/>
                <a:ea typeface="Yu Gothic UI" panose="020B0500000000000000" pitchFamily="50" charset="-128"/>
              </a:rPr>
              <a:t>受注予定</a:t>
            </a:r>
          </a:p>
        </p:txBody>
      </p:sp>
      <p:sp>
        <p:nvSpPr>
          <p:cNvPr id="58" name="四角形: 角を丸くする 57">
            <a:extLst>
              <a:ext uri="{FF2B5EF4-FFF2-40B4-BE49-F238E27FC236}">
                <a16:creationId xmlns:a16="http://schemas.microsoft.com/office/drawing/2014/main" id="{5DA84BAB-4615-DEF3-D9A3-73DA86D5B187}"/>
              </a:ext>
            </a:extLst>
          </p:cNvPr>
          <p:cNvSpPr/>
          <p:nvPr/>
        </p:nvSpPr>
        <p:spPr>
          <a:xfrm>
            <a:off x="9384805" y="2446088"/>
            <a:ext cx="1398278" cy="279504"/>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sz="1100" b="1" dirty="0">
                <a:solidFill>
                  <a:srgbClr val="FF0000"/>
                </a:solidFill>
                <a:latin typeface="Yu Gothic UI" panose="020B0500000000000000" pitchFamily="50" charset="-128"/>
                <a:ea typeface="Yu Gothic UI" panose="020B0500000000000000" pitchFamily="50" charset="-128"/>
              </a:rPr>
              <a:t>LJ</a:t>
            </a:r>
            <a:r>
              <a:rPr lang="zh-TW" altLang="en-US" sz="1100" b="1" dirty="0">
                <a:solidFill>
                  <a:srgbClr val="FF0000"/>
                </a:solidFill>
                <a:latin typeface="Yu Gothic UI" panose="020B0500000000000000" pitchFamily="50" charset="-128"/>
                <a:ea typeface="Yu Gothic UI" panose="020B0500000000000000" pitchFamily="50" charset="-128"/>
              </a:rPr>
              <a:t>受注連携累積</a:t>
            </a:r>
            <a:r>
              <a:rPr lang="en-US" altLang="zh-TW" sz="1100" b="1" dirty="0">
                <a:solidFill>
                  <a:srgbClr val="FF0000"/>
                </a:solidFill>
                <a:latin typeface="Yu Gothic UI" panose="020B0500000000000000" pitchFamily="50" charset="-128"/>
                <a:ea typeface="Yu Gothic UI" panose="020B0500000000000000" pitchFamily="50" charset="-128"/>
              </a:rPr>
              <a:t>V2</a:t>
            </a:r>
            <a:endParaRPr kumimoji="1" lang="ja-JP" altLang="en-US" sz="1100" b="1" dirty="0">
              <a:solidFill>
                <a:srgbClr val="FF0000"/>
              </a:solidFill>
              <a:latin typeface="Yu Gothic UI" panose="020B0500000000000000" pitchFamily="50" charset="-128"/>
              <a:ea typeface="Yu Gothic UI" panose="020B0500000000000000" pitchFamily="50" charset="-128"/>
            </a:endParaRPr>
          </a:p>
        </p:txBody>
      </p:sp>
      <p:sp>
        <p:nvSpPr>
          <p:cNvPr id="59" name="四角形: 角を丸くする 58">
            <a:extLst>
              <a:ext uri="{FF2B5EF4-FFF2-40B4-BE49-F238E27FC236}">
                <a16:creationId xmlns:a16="http://schemas.microsoft.com/office/drawing/2014/main" id="{8E00ADC5-3746-89F9-1A72-DF27B3DC438E}"/>
              </a:ext>
            </a:extLst>
          </p:cNvPr>
          <p:cNvSpPr/>
          <p:nvPr/>
        </p:nvSpPr>
        <p:spPr>
          <a:xfrm>
            <a:off x="9398605" y="3384110"/>
            <a:ext cx="1398278" cy="279504"/>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sz="1100" b="1" dirty="0">
                <a:solidFill>
                  <a:srgbClr val="FF0000"/>
                </a:solidFill>
                <a:latin typeface="Yu Gothic UI" panose="020B0500000000000000" pitchFamily="50" charset="-128"/>
                <a:ea typeface="Yu Gothic UI" panose="020B0500000000000000" pitchFamily="50" charset="-128"/>
              </a:rPr>
              <a:t>LJ</a:t>
            </a:r>
            <a:r>
              <a:rPr lang="ja-JP" altLang="en-US" sz="1100" b="1" dirty="0">
                <a:solidFill>
                  <a:srgbClr val="FF0000"/>
                </a:solidFill>
                <a:latin typeface="Yu Gothic UI" panose="020B0500000000000000" pitchFamily="50" charset="-128"/>
                <a:ea typeface="Yu Gothic UI" panose="020B0500000000000000" pitchFamily="50" charset="-128"/>
              </a:rPr>
              <a:t>受信取込履歴</a:t>
            </a:r>
            <a:endParaRPr kumimoji="1" lang="ja-JP" altLang="en-US" sz="1100" b="1" dirty="0">
              <a:solidFill>
                <a:srgbClr val="FF0000"/>
              </a:solidFill>
              <a:latin typeface="Yu Gothic UI" panose="020B0500000000000000" pitchFamily="50" charset="-128"/>
              <a:ea typeface="Yu Gothic UI" panose="020B0500000000000000" pitchFamily="50" charset="-128"/>
            </a:endParaRPr>
          </a:p>
        </p:txBody>
      </p:sp>
      <p:grpSp>
        <p:nvGrpSpPr>
          <p:cNvPr id="21" name="グループ化 20">
            <a:extLst>
              <a:ext uri="{FF2B5EF4-FFF2-40B4-BE49-F238E27FC236}">
                <a16:creationId xmlns:a16="http://schemas.microsoft.com/office/drawing/2014/main" id="{B6922C10-B21A-EA18-6B71-84700DFFB75E}"/>
              </a:ext>
            </a:extLst>
          </p:cNvPr>
          <p:cNvGrpSpPr/>
          <p:nvPr/>
        </p:nvGrpSpPr>
        <p:grpSpPr>
          <a:xfrm>
            <a:off x="488320" y="1358856"/>
            <a:ext cx="1506574" cy="913042"/>
            <a:chOff x="4798961" y="1772585"/>
            <a:chExt cx="1691370" cy="1113455"/>
          </a:xfrm>
        </p:grpSpPr>
        <p:pic>
          <p:nvPicPr>
            <p:cNvPr id="22" name="グラフィックス 21" descr="データベース 単色塗りつぶし">
              <a:extLst>
                <a:ext uri="{FF2B5EF4-FFF2-40B4-BE49-F238E27FC236}">
                  <a16:creationId xmlns:a16="http://schemas.microsoft.com/office/drawing/2014/main" id="{A28F3525-A1C2-2307-770A-4687A1F965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43617" y="1772585"/>
              <a:ext cx="802058" cy="802059"/>
            </a:xfrm>
            <a:prstGeom prst="rect">
              <a:avLst/>
            </a:prstGeom>
          </p:spPr>
        </p:pic>
        <p:sp>
          <p:nvSpPr>
            <p:cNvPr id="23" name="四角形: 角を丸くする 22">
              <a:extLst>
                <a:ext uri="{FF2B5EF4-FFF2-40B4-BE49-F238E27FC236}">
                  <a16:creationId xmlns:a16="http://schemas.microsoft.com/office/drawing/2014/main" id="{60B51752-7BA0-92D1-A2FA-CFD06DFC87F9}"/>
                </a:ext>
              </a:extLst>
            </p:cNvPr>
            <p:cNvSpPr/>
            <p:nvPr/>
          </p:nvSpPr>
          <p:spPr>
            <a:xfrm>
              <a:off x="4798961" y="2592873"/>
              <a:ext cx="1691370" cy="2931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1100" b="1" dirty="0">
                  <a:solidFill>
                    <a:schemeClr val="accent6">
                      <a:lumMod val="75000"/>
                    </a:schemeClr>
                  </a:solidFill>
                  <a:latin typeface="Yu Gothic UI" panose="020B0500000000000000" pitchFamily="50" charset="-128"/>
                  <a:ea typeface="Yu Gothic UI" panose="020B0500000000000000" pitchFamily="50" charset="-128"/>
                </a:rPr>
                <a:t>受注連携</a:t>
              </a:r>
              <a:r>
                <a:rPr lang="en-US" altLang="ja-JP" sz="1100" b="1" dirty="0" err="1">
                  <a:solidFill>
                    <a:schemeClr val="accent6">
                      <a:lumMod val="75000"/>
                    </a:schemeClr>
                  </a:solidFill>
                  <a:latin typeface="Yu Gothic UI" panose="020B0500000000000000" pitchFamily="50" charset="-128"/>
                  <a:ea typeface="Yu Gothic UI" panose="020B0500000000000000" pitchFamily="50" charset="-128"/>
                </a:rPr>
                <a:t>mdb</a:t>
              </a:r>
              <a:r>
                <a:rPr lang="ja-JP" altLang="en-US" sz="1100" b="1" dirty="0">
                  <a:solidFill>
                    <a:schemeClr val="accent6">
                      <a:lumMod val="75000"/>
                    </a:schemeClr>
                  </a:solidFill>
                  <a:latin typeface="Yu Gothic UI" panose="020B0500000000000000" pitchFamily="50" charset="-128"/>
                  <a:ea typeface="Yu Gothic UI" panose="020B0500000000000000" pitchFamily="50" charset="-128"/>
                </a:rPr>
                <a:t>ファイル</a:t>
              </a:r>
              <a:endParaRPr kumimoji="1" lang="ja-JP" altLang="en-US" sz="1100" b="1" dirty="0">
                <a:solidFill>
                  <a:schemeClr val="accent6">
                    <a:lumMod val="75000"/>
                  </a:schemeClr>
                </a:solidFill>
                <a:latin typeface="Yu Gothic UI" panose="020B0500000000000000" pitchFamily="50" charset="-128"/>
                <a:ea typeface="Yu Gothic UI" panose="020B0500000000000000" pitchFamily="50" charset="-128"/>
              </a:endParaRPr>
            </a:p>
          </p:txBody>
        </p:sp>
      </p:grpSp>
      <p:sp>
        <p:nvSpPr>
          <p:cNvPr id="25" name="四角形: 角を丸くする 24">
            <a:extLst>
              <a:ext uri="{FF2B5EF4-FFF2-40B4-BE49-F238E27FC236}">
                <a16:creationId xmlns:a16="http://schemas.microsoft.com/office/drawing/2014/main" id="{37B52FC0-F457-FE91-9070-1CEB32CB5CD8}"/>
              </a:ext>
            </a:extLst>
          </p:cNvPr>
          <p:cNvSpPr/>
          <p:nvPr/>
        </p:nvSpPr>
        <p:spPr>
          <a:xfrm>
            <a:off x="5104089" y="1594511"/>
            <a:ext cx="1228938" cy="285777"/>
          </a:xfrm>
          <a:prstGeom prst="round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rgbClr val="FF0000"/>
                </a:solidFill>
                <a:latin typeface="Yu Gothic UI" panose="020B0500000000000000" pitchFamily="50" charset="-128"/>
                <a:ea typeface="Yu Gothic UI" panose="020B0500000000000000" pitchFamily="50" charset="-128"/>
              </a:rPr>
              <a:t>連携取込</a:t>
            </a:r>
          </a:p>
        </p:txBody>
      </p:sp>
      <p:pic>
        <p:nvPicPr>
          <p:cNvPr id="26" name="グラフィックス 25" descr="コンピューター 単色塗りつぶし">
            <a:extLst>
              <a:ext uri="{FF2B5EF4-FFF2-40B4-BE49-F238E27FC236}">
                <a16:creationId xmlns:a16="http://schemas.microsoft.com/office/drawing/2014/main" id="{69739E39-5894-2110-DCAD-449CEA593B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17905" y="1245331"/>
            <a:ext cx="914400" cy="914400"/>
          </a:xfrm>
          <a:prstGeom prst="rect">
            <a:avLst/>
          </a:prstGeom>
        </p:spPr>
      </p:pic>
      <p:sp>
        <p:nvSpPr>
          <p:cNvPr id="28" name="矢印: 右 27">
            <a:extLst>
              <a:ext uri="{FF2B5EF4-FFF2-40B4-BE49-F238E27FC236}">
                <a16:creationId xmlns:a16="http://schemas.microsoft.com/office/drawing/2014/main" id="{75E2D0C4-9551-642E-DE4E-7558ECA60EEC}"/>
              </a:ext>
            </a:extLst>
          </p:cNvPr>
          <p:cNvSpPr/>
          <p:nvPr/>
        </p:nvSpPr>
        <p:spPr>
          <a:xfrm>
            <a:off x="2470151" y="1439107"/>
            <a:ext cx="954620" cy="49719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ja-JP" altLang="en-US" sz="1400" dirty="0"/>
              <a:t>取込</a:t>
            </a:r>
            <a:endParaRPr lang="en-US" altLang="ja-JP" sz="1400" dirty="0"/>
          </a:p>
        </p:txBody>
      </p:sp>
      <p:pic>
        <p:nvPicPr>
          <p:cNvPr id="39" name="グラフィックス 38" descr="コンピューター 単色塗りつぶし">
            <a:extLst>
              <a:ext uri="{FF2B5EF4-FFF2-40B4-BE49-F238E27FC236}">
                <a16:creationId xmlns:a16="http://schemas.microsoft.com/office/drawing/2014/main" id="{2789A115-5789-C3FD-15C0-01BF14B98E0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08504" y="3996450"/>
            <a:ext cx="914400" cy="914400"/>
          </a:xfrm>
          <a:prstGeom prst="rect">
            <a:avLst/>
          </a:prstGeom>
        </p:spPr>
      </p:pic>
      <p:sp>
        <p:nvSpPr>
          <p:cNvPr id="40" name="四角形: 角を丸くする 39">
            <a:extLst>
              <a:ext uri="{FF2B5EF4-FFF2-40B4-BE49-F238E27FC236}">
                <a16:creationId xmlns:a16="http://schemas.microsoft.com/office/drawing/2014/main" id="{6D1F248B-0FDF-4907-8760-A9A8D30745EB}"/>
              </a:ext>
            </a:extLst>
          </p:cNvPr>
          <p:cNvSpPr/>
          <p:nvPr/>
        </p:nvSpPr>
        <p:spPr>
          <a:xfrm>
            <a:off x="9554145" y="4314562"/>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100" b="1" dirty="0">
                <a:solidFill>
                  <a:schemeClr val="accent5">
                    <a:lumMod val="75000"/>
                  </a:schemeClr>
                </a:solidFill>
                <a:latin typeface="Yu Gothic UI" panose="020B0500000000000000" pitchFamily="50" charset="-128"/>
                <a:ea typeface="Yu Gothic UI" panose="020B0500000000000000" pitchFamily="50" charset="-128"/>
              </a:rPr>
              <a:t>取込結果</a:t>
            </a:r>
            <a:endParaRPr kumimoji="1" lang="ja-JP" altLang="en-US" sz="1100" b="1" dirty="0">
              <a:solidFill>
                <a:schemeClr val="accent5">
                  <a:lumMod val="75000"/>
                </a:schemeClr>
              </a:solidFill>
              <a:latin typeface="Yu Gothic UI" panose="020B0500000000000000" pitchFamily="50" charset="-128"/>
              <a:ea typeface="Yu Gothic UI" panose="020B0500000000000000" pitchFamily="50" charset="-128"/>
            </a:endParaRPr>
          </a:p>
        </p:txBody>
      </p:sp>
      <p:pic>
        <p:nvPicPr>
          <p:cNvPr id="43" name="グラフィックス 42" descr="ドキュメント 枠線">
            <a:extLst>
              <a:ext uri="{FF2B5EF4-FFF2-40B4-BE49-F238E27FC236}">
                <a16:creationId xmlns:a16="http://schemas.microsoft.com/office/drawing/2014/main" id="{82D5A1F8-3ECA-0671-9A25-FA62138A92D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615245" y="5043234"/>
            <a:ext cx="700919" cy="700919"/>
          </a:xfrm>
          <a:prstGeom prst="rect">
            <a:avLst/>
          </a:prstGeom>
        </p:spPr>
      </p:pic>
      <p:sp>
        <p:nvSpPr>
          <p:cNvPr id="45" name="四角形: 角を丸くする 44">
            <a:extLst>
              <a:ext uri="{FF2B5EF4-FFF2-40B4-BE49-F238E27FC236}">
                <a16:creationId xmlns:a16="http://schemas.microsoft.com/office/drawing/2014/main" id="{7834B8E5-1BBA-1014-E201-13F61C5BD570}"/>
              </a:ext>
            </a:extLst>
          </p:cNvPr>
          <p:cNvSpPr/>
          <p:nvPr/>
        </p:nvSpPr>
        <p:spPr>
          <a:xfrm>
            <a:off x="9554145" y="5290586"/>
            <a:ext cx="1228938" cy="285777"/>
          </a:xfrm>
          <a:prstGeom prst="round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100" b="1" dirty="0">
                <a:solidFill>
                  <a:schemeClr val="accent5">
                    <a:lumMod val="75000"/>
                  </a:schemeClr>
                </a:solidFill>
                <a:latin typeface="Yu Gothic UI" panose="020B0500000000000000" pitchFamily="50" charset="-128"/>
                <a:ea typeface="Yu Gothic UI" panose="020B0500000000000000" pitchFamily="50" charset="-128"/>
              </a:rPr>
              <a:t>エラーリスト</a:t>
            </a:r>
            <a:endParaRPr kumimoji="1" lang="ja-JP" altLang="en-US" sz="1100" b="1" dirty="0">
              <a:solidFill>
                <a:schemeClr val="accent5">
                  <a:lumMod val="75000"/>
                </a:schemeClr>
              </a:solidFill>
              <a:latin typeface="Yu Gothic UI" panose="020B0500000000000000" pitchFamily="50" charset="-128"/>
              <a:ea typeface="Yu Gothic UI" panose="020B0500000000000000" pitchFamily="50" charset="-128"/>
            </a:endParaRPr>
          </a:p>
        </p:txBody>
      </p:sp>
      <p:sp>
        <p:nvSpPr>
          <p:cNvPr id="46" name="四角形: 角を丸くする 45">
            <a:extLst>
              <a:ext uri="{FF2B5EF4-FFF2-40B4-BE49-F238E27FC236}">
                <a16:creationId xmlns:a16="http://schemas.microsoft.com/office/drawing/2014/main" id="{A3C12A62-6749-3C4D-3507-E0CA779324DF}"/>
              </a:ext>
            </a:extLst>
          </p:cNvPr>
          <p:cNvSpPr/>
          <p:nvPr/>
        </p:nvSpPr>
        <p:spPr>
          <a:xfrm>
            <a:off x="4295541" y="2449246"/>
            <a:ext cx="1506574" cy="24039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Yu Gothic UI" panose="020B0500000000000000" pitchFamily="50" charset="-128"/>
                <a:ea typeface="Yu Gothic UI" panose="020B0500000000000000" pitchFamily="50" charset="-128"/>
              </a:rPr>
              <a:t>エラーチェック</a:t>
            </a:r>
          </a:p>
        </p:txBody>
      </p:sp>
      <p:sp>
        <p:nvSpPr>
          <p:cNvPr id="47" name="四角形: 角を丸くする 46">
            <a:extLst>
              <a:ext uri="{FF2B5EF4-FFF2-40B4-BE49-F238E27FC236}">
                <a16:creationId xmlns:a16="http://schemas.microsoft.com/office/drawing/2014/main" id="{6E047027-7BF5-E74D-8683-9867972E0389}"/>
              </a:ext>
            </a:extLst>
          </p:cNvPr>
          <p:cNvSpPr/>
          <p:nvPr/>
        </p:nvSpPr>
        <p:spPr>
          <a:xfrm>
            <a:off x="4295541" y="3283463"/>
            <a:ext cx="1506574" cy="24039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Yu Gothic UI" panose="020B0500000000000000" pitchFamily="50" charset="-128"/>
                <a:ea typeface="Yu Gothic UI" panose="020B0500000000000000" pitchFamily="50" charset="-128"/>
              </a:rPr>
              <a:t>伝票番号採番</a:t>
            </a:r>
          </a:p>
        </p:txBody>
      </p:sp>
      <p:sp>
        <p:nvSpPr>
          <p:cNvPr id="50" name="矢印: 右 49">
            <a:extLst>
              <a:ext uri="{FF2B5EF4-FFF2-40B4-BE49-F238E27FC236}">
                <a16:creationId xmlns:a16="http://schemas.microsoft.com/office/drawing/2014/main" id="{33198D71-205C-FD54-7560-F37661E473D0}"/>
              </a:ext>
            </a:extLst>
          </p:cNvPr>
          <p:cNvSpPr/>
          <p:nvPr/>
        </p:nvSpPr>
        <p:spPr>
          <a:xfrm>
            <a:off x="6882387" y="1453935"/>
            <a:ext cx="954620" cy="49719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ja-JP" altLang="en-US" sz="1400" dirty="0"/>
              <a:t>結果</a:t>
            </a:r>
            <a:endParaRPr lang="en-US" altLang="ja-JP" sz="1400" dirty="0"/>
          </a:p>
        </p:txBody>
      </p:sp>
      <p:sp>
        <p:nvSpPr>
          <p:cNvPr id="2" name="四角形: 角を丸くする 1">
            <a:extLst>
              <a:ext uri="{FF2B5EF4-FFF2-40B4-BE49-F238E27FC236}">
                <a16:creationId xmlns:a16="http://schemas.microsoft.com/office/drawing/2014/main" id="{D90876E8-EC6E-031B-B476-2D5BC50A5BAB}"/>
              </a:ext>
            </a:extLst>
          </p:cNvPr>
          <p:cNvSpPr/>
          <p:nvPr/>
        </p:nvSpPr>
        <p:spPr>
          <a:xfrm>
            <a:off x="4295541" y="2855354"/>
            <a:ext cx="1506574" cy="24039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1100" b="1" dirty="0">
                <a:solidFill>
                  <a:schemeClr val="accent6">
                    <a:lumMod val="75000"/>
                  </a:schemeClr>
                </a:solidFill>
                <a:latin typeface="Yu Gothic UI" panose="020B0500000000000000" pitchFamily="50" charset="-128"/>
                <a:ea typeface="Yu Gothic UI" panose="020B0500000000000000" pitchFamily="50" charset="-128"/>
              </a:rPr>
              <a:t>再チェック</a:t>
            </a:r>
          </a:p>
        </p:txBody>
      </p:sp>
    </p:spTree>
    <p:extLst>
      <p:ext uri="{BB962C8B-B14F-4D97-AF65-F5344CB8AC3E}">
        <p14:creationId xmlns:p14="http://schemas.microsoft.com/office/powerpoint/2010/main" val="126050555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2120</TotalTime>
  <Words>1028</Words>
  <Application>Microsoft Office PowerPoint</Application>
  <PresentationFormat>ワイド画面</PresentationFormat>
  <Paragraphs>136</Paragraphs>
  <Slides>7</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Yu Gothic UI</vt:lpstr>
      <vt:lpstr>游ゴシック Medium</vt:lpstr>
      <vt:lpstr>Arial</vt:lpstr>
      <vt:lpstr>Calibri</vt:lpstr>
      <vt:lpstr>Calibri Light</vt:lpstr>
      <vt:lpstr>Office テーマ</vt:lpstr>
      <vt:lpstr>PowerPoint プレゼンテーション</vt:lpstr>
      <vt:lpstr>１．概要</vt:lpstr>
      <vt:lpstr>２．問題点</vt:lpstr>
      <vt:lpstr>２．問題点</vt:lpstr>
      <vt:lpstr>３．解決へのアプローチ</vt:lpstr>
      <vt:lpstr>４ ．一括取込機能と連携データフォーマットについて</vt:lpstr>
      <vt:lpstr>５ ．インターフェース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JFOS</dc:creator>
  <cp:lastModifiedBy>HIS-HD 前原 拓矢</cp:lastModifiedBy>
  <cp:revision>132</cp:revision>
  <cp:lastPrinted>2024-02-14T00:00:53Z</cp:lastPrinted>
  <dcterms:created xsi:type="dcterms:W3CDTF">2024-02-08T10:53:55Z</dcterms:created>
  <dcterms:modified xsi:type="dcterms:W3CDTF">2025-06-17T01:06:36Z</dcterms:modified>
</cp:coreProperties>
</file>